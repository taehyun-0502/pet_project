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691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댕댕댕은 원래 생체데이터 기반 질병예측 웹서비스로 기획했지만, 실제로는 숏츠·실시간 채팅·AI 진단·챗봇·MCP까지 아우르는 통합 반려동물 케어 플랫폼으로 구현됐습니다. 오늘은 기술 리뷰 관점에서 아키텍처와 구현 디테일을 공유합니다.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jp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5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39.png"/><Relationship Id="rId5" Type="http://schemas.openxmlformats.org/officeDocument/2006/relationships/image" Target="../media/image36.png"/><Relationship Id="rId10" Type="http://schemas.openxmlformats.org/officeDocument/2006/relationships/image" Target="../media/image11.png"/><Relationship Id="rId4" Type="http://schemas.openxmlformats.org/officeDocument/2006/relationships/image" Target="../media/image35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28.png"/><Relationship Id="rId9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4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9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55.png"/><Relationship Id="rId4" Type="http://schemas.openxmlformats.org/officeDocument/2006/relationships/image" Target="../media/image54.png"/><Relationship Id="rId9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6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02168" y="548640"/>
            <a:ext cx="3200400" cy="32004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Shape 1"/>
          <p:cNvSpPr/>
          <p:nvPr/>
        </p:nvSpPr>
        <p:spPr>
          <a:xfrm>
            <a:off x="9390888" y="4754880"/>
            <a:ext cx="1463040" cy="1463040"/>
          </a:xfrm>
          <a:prstGeom prst="ellipse">
            <a:avLst/>
          </a:prstGeom>
          <a:solidFill>
            <a:srgbClr val="6B5545">
              <a:alpha val="45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20116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기술 리뷰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댕댕댕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 통합 케어 플랫폼 — 숏츠 · 오픈채팅 · AI 질병 진단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4251960"/>
            <a:ext cx="1161288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425196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58568" y="4251960"/>
            <a:ext cx="1897380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58568" y="4251960"/>
            <a:ext cx="18973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84548" y="4251960"/>
            <a:ext cx="2107692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84548" y="4251960"/>
            <a:ext cx="2107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PyTorch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720840" y="4251960"/>
            <a:ext cx="1792224" cy="457200"/>
          </a:xfrm>
          <a:prstGeom prst="roundRect">
            <a:avLst>
              <a:gd name="adj" fmla="val 50000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42519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· EC2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</a:t>
            </a:r>
            <a:r>
              <a:rPr lang="en-US" sz="1300" dirty="0" err="1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조종현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 err="1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구영주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송태현</a:t>
            </a:r>
            <a:r>
              <a:rPr lang="en-US" altLang="ko-KR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김현서</a:t>
            </a:r>
            <a:r>
              <a:rPr lang="en-US" altLang="ko-KR" sz="130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2785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92785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92785" y="1783080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8817" y="2167128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919" y="2341230"/>
            <a:ext cx="273588" cy="2735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61865" y="19476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844345" y="20939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규모 · 아키텍처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44345" y="24963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만들었고 어떤 구조인가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905" y="1783080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0937" y="2167128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5039" y="2341230"/>
            <a:ext cx="273588" cy="2735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393985" y="19476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7376465" y="20939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&amp; 보안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376465" y="24963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OAuth · JWT 회전 · 단일 오리진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2785" y="331927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48817" y="3703320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919" y="3877422"/>
            <a:ext cx="273588" cy="27358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61865" y="348386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1844345" y="36301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650" dirty="0"/>
          </a:p>
        </p:txBody>
      </p:sp>
      <p:sp>
        <p:nvSpPr>
          <p:cNvPr id="21" name="Text 16"/>
          <p:cNvSpPr txBox="1"/>
          <p:nvPr/>
        </p:nvSpPr>
        <p:spPr>
          <a:xfrm>
            <a:off x="1844345" y="40325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· 오픈채팅 · 부가 서비스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324905" y="3319272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580937" y="3703320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039" y="3877422"/>
            <a:ext cx="273588" cy="27358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393985" y="348386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7376465" y="36301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질병 진단</a:t>
            </a:r>
            <a:endParaRPr lang="en-US" sz="1650" dirty="0"/>
          </a:p>
        </p:txBody>
      </p:sp>
      <p:sp>
        <p:nvSpPr>
          <p:cNvPr id="27" name="Text 21"/>
          <p:cNvSpPr txBox="1"/>
          <p:nvPr/>
        </p:nvSpPr>
        <p:spPr>
          <a:xfrm>
            <a:off x="7376465" y="40325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진단 · 하이브리드 위험도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92785" y="4855464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48817" y="5239512"/>
            <a:ext cx="621792" cy="62179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2919" y="5413614"/>
            <a:ext cx="273588" cy="27358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861865" y="502005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000" dirty="0"/>
          </a:p>
        </p:txBody>
      </p:sp>
      <p:sp>
        <p:nvSpPr>
          <p:cNvPr id="32" name="Text 25"/>
          <p:cNvSpPr txBox="1"/>
          <p:nvPr/>
        </p:nvSpPr>
        <p:spPr>
          <a:xfrm>
            <a:off x="1844345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&amp; MCP</a:t>
            </a:r>
            <a:endParaRPr lang="en-US" sz="1650" dirty="0"/>
          </a:p>
        </p:txBody>
      </p:sp>
      <p:sp>
        <p:nvSpPr>
          <p:cNvPr id="33" name="Text 26"/>
          <p:cNvSpPr txBox="1"/>
          <p:nvPr/>
        </p:nvSpPr>
        <p:spPr>
          <a:xfrm>
            <a:off x="1844345" y="55686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calling · 외부 AI 호스트 확장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6324905" y="4855464"/>
            <a:ext cx="5074920" cy="1371600"/>
          </a:xfrm>
          <a:prstGeom prst="roundRect">
            <a:avLst>
              <a:gd name="adj" fmla="val 9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580937" y="5239512"/>
            <a:ext cx="621792" cy="62179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039" y="5413614"/>
            <a:ext cx="273588" cy="273588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393985" y="502005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0E3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3000" dirty="0"/>
          </a:p>
        </p:txBody>
      </p:sp>
      <p:sp>
        <p:nvSpPr>
          <p:cNvPr id="38" name="Text 30"/>
          <p:cNvSpPr txBox="1"/>
          <p:nvPr/>
        </p:nvSpPr>
        <p:spPr>
          <a:xfrm>
            <a:off x="7376465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· 회고</a:t>
            </a:r>
            <a:endParaRPr lang="en-US" sz="1650" dirty="0"/>
          </a:p>
        </p:txBody>
      </p:sp>
      <p:sp>
        <p:nvSpPr>
          <p:cNvPr id="39" name="Text 31"/>
          <p:cNvSpPr txBox="1"/>
          <p:nvPr/>
        </p:nvSpPr>
        <p:spPr>
          <a:xfrm>
            <a:off x="7376465" y="55686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배포 · 엔지니어링 의사결정</a:t>
            </a:r>
            <a:endParaRPr lang="en-US" sz="1250" dirty="0"/>
          </a:p>
        </p:txBody>
      </p:sp>
      <p:sp>
        <p:nvSpPr>
          <p:cNvPr id="40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417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반려동물의 </a:t>
            </a:r>
            <a:r>
              <a:rPr lang="en-US" sz="17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 데이터와 일상</a:t>
            </a: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한 곳에서 — 숏츠로 소통하고, AI가 이상 징후를 진단하고, 챗봇이 </a:t>
            </a:r>
            <a:r>
              <a:rPr lang="en-US" sz="170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병원까지</a:t>
            </a: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70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안내하는</a:t>
            </a:r>
            <a:r>
              <a:rPr lang="en-US" sz="17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웹 플랫폼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92785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03681" y="2578608"/>
            <a:ext cx="713232" cy="713232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386" y="2778313"/>
            <a:ext cx="313822" cy="31382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03681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(릴스)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103681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촬영→편집→발행 4단계 플로우,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스냅 피드, </a:t>
            </a: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좋아요·댓글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알고리즘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32097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42993" y="2578608"/>
            <a:ext cx="713232" cy="713232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2698" y="2778313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42993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742993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over WebSocket 실시간 채팅, 방 개설·역할·강퇴·고정·이미지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71409" y="2286000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82305" y="2578608"/>
            <a:ext cx="713232" cy="713232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10" y="2778313"/>
            <a:ext cx="313822" cy="31382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82305" y="340156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질병 진단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382305" y="3767328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진단(EfficientNet)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수치·문진 하이브리드 위험도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2785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103681" y="4800600"/>
            <a:ext cx="713232" cy="713232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386" y="5000305"/>
            <a:ext cx="313822" cy="31382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03681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1103681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function calling으로 진단 조회 + 주변 병원 추천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432097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742993" y="4800600"/>
            <a:ext cx="713232" cy="713232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2698" y="5000305"/>
            <a:ext cx="313822" cy="31382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42993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산책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4742993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주변 병원/카페 검색,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트래킹·아스팔트 온도 경고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071409" y="4507992"/>
            <a:ext cx="3310128" cy="1965960"/>
          </a:xfrm>
          <a:prstGeom prst="roundRect">
            <a:avLst>
              <a:gd name="adj" fmla="val 651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8382305" y="4800600"/>
            <a:ext cx="713232" cy="713232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2010" y="5000305"/>
            <a:ext cx="313822" cy="31382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382305" y="562356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8382305" y="5989320"/>
            <a:ext cx="2761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도구를 외부 AI </a:t>
            </a:r>
            <a:r>
              <a:rPr lang="en-US" sz="12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>
              <a:solidFill>
                <a:srgbClr val="9A8D8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(Claude Desktop 등)</a:t>
            </a:r>
            <a:r>
              <a:rPr lang="ko-KR" alt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재노출</a:t>
            </a:r>
            <a:endParaRPr lang="en-US" sz="1200" dirty="0"/>
          </a:p>
        </p:txBody>
      </p:sp>
      <p:sp>
        <p:nvSpPr>
          <p:cNvPr id="37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 &amp; COLLABORATION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 &amp; 팀 협업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85393" y="182880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133" y="1987540"/>
            <a:ext cx="249448" cy="2494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4225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69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103681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· 100% 완료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517697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810305" y="1828800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045" y="1987540"/>
            <a:ext cx="249448" cy="2494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9137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B85C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59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3828593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작업 · 100% 완료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2609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35217" y="1828800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957" y="1987540"/>
            <a:ext cx="249448" cy="2494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34049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218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6553505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커밋 · 25 PR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8967521" y="1554480"/>
            <a:ext cx="2432304" cy="1874520"/>
          </a:xfrm>
          <a:prstGeom prst="roundRect">
            <a:avLst>
              <a:gd name="adj" fmla="val 6829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60129" y="182880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869" y="1987540"/>
            <a:ext cx="249448" cy="2494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58961" y="242316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32K+</a:t>
            </a:r>
            <a:endParaRPr lang="en-US" sz="4000" dirty="0"/>
          </a:p>
        </p:txBody>
      </p:sp>
      <p:sp>
        <p:nvSpPr>
          <p:cNvPr id="25" name="Text 19"/>
          <p:cNvSpPr txBox="1"/>
          <p:nvPr/>
        </p:nvSpPr>
        <p:spPr>
          <a:xfrm>
            <a:off x="9278417" y="3035808"/>
            <a:ext cx="1975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 라인 · 300+ 파일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792785" y="3703320"/>
            <a:ext cx="10607040" cy="2331720"/>
          </a:xfrm>
          <a:prstGeom prst="roundRect">
            <a:avLst>
              <a:gd name="adj" fmla="val 549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1067105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 구성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067105" y="43159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pet_backend (Spring Boot · Java 21)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999025" y="43159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 파일 · 약 12.5K LOC — 도메인 API, 인증, 채팅, 챗봇, MCP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9845345" y="443484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1" name="Shape 25"/>
          <p:cNvSpPr/>
          <p:nvPr/>
        </p:nvSpPr>
        <p:spPr>
          <a:xfrm>
            <a:off x="9845345" y="4434840"/>
            <a:ext cx="477317" cy="219456"/>
          </a:xfrm>
          <a:prstGeom prst="roundRect">
            <a:avLst>
              <a:gd name="adj" fmla="val 50000"/>
            </a:avLst>
          </a:prstGeom>
          <a:solidFill>
            <a:srgbClr val="6B5545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1067105" y="48646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pet_frontend (React 19 · Vite 8)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4999025" y="4864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 파일 · 약 19K LOC — 모바일 퍼스트 SPA, 숏츠 제작 플로우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9845345" y="498348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5" name="Shape 29"/>
          <p:cNvSpPr/>
          <p:nvPr/>
        </p:nvSpPr>
        <p:spPr>
          <a:xfrm>
            <a:off x="9845345" y="4983480"/>
            <a:ext cx="674827" cy="219456"/>
          </a:xfrm>
          <a:prstGeom prst="roundRect">
            <a:avLst>
              <a:gd name="adj" fmla="val 50000"/>
            </a:avLst>
          </a:prstGeom>
          <a:solidFill>
            <a:srgbClr val="B85C3C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1067105" y="5413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pet_model (FastAPI · PyTorch)</a:t>
            </a:r>
            <a:endParaRPr lang="en-US" sz="1250" dirty="0"/>
          </a:p>
        </p:txBody>
      </p:sp>
      <p:sp>
        <p:nvSpPr>
          <p:cNvPr id="37" name="Text 31"/>
          <p:cNvSpPr txBox="1"/>
          <p:nvPr/>
        </p:nvSpPr>
        <p:spPr>
          <a:xfrm>
            <a:off x="4999025" y="5413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파일 · 약 0.5K LOC — EfficientNet 진단, 하이브리드 위험도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9845345" y="5532120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0E3D2"/>
          </a:solidFill>
          <a:ln/>
        </p:spPr>
      </p:sp>
      <p:sp>
        <p:nvSpPr>
          <p:cNvPr id="39" name="Shape 33"/>
          <p:cNvSpPr/>
          <p:nvPr/>
        </p:nvSpPr>
        <p:spPr>
          <a:xfrm>
            <a:off x="9845345" y="5532120"/>
            <a:ext cx="197510" cy="219456"/>
          </a:xfrm>
          <a:prstGeom prst="roundRect">
            <a:avLst>
              <a:gd name="adj" fmla="val 55556"/>
            </a:avLst>
          </a:prstGeom>
          <a:solidFill>
            <a:srgbClr val="EF7D66"/>
          </a:solidFill>
          <a:ln/>
        </p:spPr>
      </p:sp>
      <p:sp>
        <p:nvSpPr>
          <p:cNvPr id="40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&amp; OWNERSHIP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&amp; 역할 분담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일정표·git 이력 기준 — 네 명이 도메인별로 나눠 맡고 PR 리뷰로 통합했습니다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67105" y="2066544"/>
            <a:ext cx="640080" cy="640080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327" y="2245766"/>
            <a:ext cx="281635" cy="2816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7105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송태현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067105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Taehyun-0502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67105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33 · 커밋 109 · PR 25 머지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85393" y="3739896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04849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회원·인증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(카카오 OAuth·JWT)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085393" y="4123944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304849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(STOMP·권한·강퇴)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085393" y="4507992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304849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펫·홈 · 공통/보안 레이어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085393" y="4892040"/>
            <a:ext cx="100584" cy="10058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04849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통합 · PR 리뷰/머지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517697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792017" y="2066544"/>
            <a:ext cx="640080" cy="640080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1239" y="2245766"/>
            <a:ext cx="281635" cy="28163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792017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김현서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3792017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hyunseo0504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3792017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7 · 커밋 32 · PR 10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810305" y="3739896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029761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제작 </a:t>
            </a:r>
            <a:r>
              <a:rPr lang="en-US" sz="1050" dirty="0" err="1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플로우</a:t>
            </a: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(촬영→발행)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810305" y="4123944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029761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피드 · 좋아요 · 댓글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3810305" y="4507992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029761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알고리즘 · 태그 설계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3810305" y="4892040"/>
            <a:ext cx="100584" cy="10058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4029761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242609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6516929" y="2066544"/>
            <a:ext cx="640080" cy="640080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151" y="2245766"/>
            <a:ext cx="281635" cy="281635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6516929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구영주</a:t>
            </a:r>
            <a:endParaRPr lang="en-US" sz="1700" dirty="0"/>
          </a:p>
        </p:txBody>
      </p:sp>
      <p:sp>
        <p:nvSpPr>
          <p:cNvPr id="39" name="Text 34"/>
          <p:cNvSpPr txBox="1"/>
          <p:nvPr/>
        </p:nvSpPr>
        <p:spPr>
          <a:xfrm>
            <a:off x="6516929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greyth93-ship-it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6516929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12 · 커밋 46 · PR 8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535217" y="3739896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6754673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주변 장소 검색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535217" y="4123944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6754673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트래킹 · 날씨 브리핑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6535217" y="4507992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6754673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(function calling)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6535217" y="4892040"/>
            <a:ext cx="100584" cy="10058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6754673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· EC2 배포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967521" y="1828800"/>
            <a:ext cx="2432304" cy="3383280"/>
          </a:xfrm>
          <a:prstGeom prst="roundRect">
            <a:avLst>
              <a:gd name="adj" fmla="val 526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0" name="Shape 45"/>
          <p:cNvSpPr/>
          <p:nvPr/>
        </p:nvSpPr>
        <p:spPr>
          <a:xfrm>
            <a:off x="9241841" y="2066544"/>
            <a:ext cx="640080" cy="640080"/>
          </a:xfrm>
          <a:prstGeom prst="ellipse">
            <a:avLst/>
          </a:prstGeom>
          <a:solidFill>
            <a:srgbClr val="D89A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1063" y="2245766"/>
            <a:ext cx="281635" cy="281635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9241841" y="279806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조종현</a:t>
            </a:r>
            <a:endParaRPr lang="en-US" sz="1700" dirty="0"/>
          </a:p>
        </p:txBody>
      </p:sp>
      <p:sp>
        <p:nvSpPr>
          <p:cNvPr id="53" name="Text 47"/>
          <p:cNvSpPr txBox="1"/>
          <p:nvPr/>
        </p:nvSpPr>
        <p:spPr>
          <a:xfrm>
            <a:off x="9241841" y="314553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zxc159285</a:t>
            </a:r>
            <a:endParaRPr lang="en-US" sz="950" dirty="0"/>
          </a:p>
        </p:txBody>
      </p:sp>
      <p:sp>
        <p:nvSpPr>
          <p:cNvPr id="54" name="Text 48"/>
          <p:cNvSpPr txBox="1"/>
          <p:nvPr/>
        </p:nvSpPr>
        <p:spPr>
          <a:xfrm>
            <a:off x="9241841" y="3383280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7 · 커밋 31 · PR 7</a:t>
            </a:r>
            <a:endParaRPr 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9260129" y="3739896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56" name="Text 50"/>
          <p:cNvSpPr txBox="1"/>
          <p:nvPr/>
        </p:nvSpPr>
        <p:spPr>
          <a:xfrm>
            <a:off x="9479585" y="367588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모델 서버 구축</a:t>
            </a:r>
            <a:endParaRPr lang="en-US" sz="1050" dirty="0"/>
          </a:p>
        </p:txBody>
      </p:sp>
      <p:sp>
        <p:nvSpPr>
          <p:cNvPr id="57" name="Shape 51"/>
          <p:cNvSpPr/>
          <p:nvPr/>
        </p:nvSpPr>
        <p:spPr>
          <a:xfrm>
            <a:off x="9260129" y="4123944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9479585" y="40599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피부질환 진단</a:t>
            </a:r>
            <a:endParaRPr lang="en-US" sz="1050" dirty="0"/>
          </a:p>
        </p:txBody>
      </p:sp>
      <p:sp>
        <p:nvSpPr>
          <p:cNvPr id="59" name="Shape 53"/>
          <p:cNvSpPr/>
          <p:nvPr/>
        </p:nvSpPr>
        <p:spPr>
          <a:xfrm>
            <a:off x="9260129" y="4507992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0" name="Text 54"/>
          <p:cNvSpPr txBox="1"/>
          <p:nvPr/>
        </p:nvSpPr>
        <p:spPr>
          <a:xfrm>
            <a:off x="9479585" y="44439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진단</a:t>
            </a:r>
            <a:endParaRPr lang="en-US" sz="1050" dirty="0"/>
          </a:p>
        </p:txBody>
      </p:sp>
      <p:sp>
        <p:nvSpPr>
          <p:cNvPr id="61" name="Shape 55"/>
          <p:cNvSpPr/>
          <p:nvPr/>
        </p:nvSpPr>
        <p:spPr>
          <a:xfrm>
            <a:off x="9260129" y="4892040"/>
            <a:ext cx="100584" cy="10058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2" name="Text 56"/>
          <p:cNvSpPr txBox="1"/>
          <p:nvPr/>
        </p:nvSpPr>
        <p:spPr>
          <a:xfrm>
            <a:off x="9479585" y="48280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화면 · PDF 소견</a:t>
            </a:r>
            <a:endParaRPr lang="en-US" sz="1050" dirty="0"/>
          </a:p>
        </p:txBody>
      </p:sp>
      <p:sp>
        <p:nvSpPr>
          <p:cNvPr id="63" name="Shape 57"/>
          <p:cNvSpPr/>
          <p:nvPr/>
        </p:nvSpPr>
        <p:spPr>
          <a:xfrm>
            <a:off x="792785" y="5440680"/>
            <a:ext cx="10607040" cy="731520"/>
          </a:xfrm>
          <a:prstGeom prst="roundRect">
            <a:avLst>
              <a:gd name="adj" fmla="val 15000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4" name="Text 58"/>
          <p:cNvSpPr txBox="1"/>
          <p:nvPr/>
        </p:nvSpPr>
        <p:spPr>
          <a:xfrm>
            <a:off x="1067105" y="54406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</a:t>
            </a:r>
            <a:endParaRPr lang="en-US" sz="1300" dirty="0"/>
          </a:p>
        </p:txBody>
      </p:sp>
      <p:sp>
        <p:nvSpPr>
          <p:cNvPr id="65" name="Text 59"/>
          <p:cNvSpPr txBox="1"/>
          <p:nvPr/>
        </p:nvSpPr>
        <p:spPr>
          <a:xfrm>
            <a:off x="2484425" y="54406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브랜치·포크에서 작업 → PR 제출 → 리뷰 후 머지   ·   개발 작업 59건 100% 완료 · 218 커밋 · 25 PR · 2026.08.04 ~ 09.01</a:t>
            </a:r>
            <a:endParaRPr lang="en-US" sz="1200" dirty="0"/>
          </a:p>
        </p:txBody>
      </p:sp>
      <p:sp>
        <p:nvSpPr>
          <p:cNvPr id="6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단일 오리진 뒤에서 Spring이 허브 — 모델 추론은 Google Colab GPU, 저장소는 Supabase로 외부 분리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260604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93953" y="30175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" y="317113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61465" y="27889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661465" y="31363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퍼스트 SPA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dist 정적 서빙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15945" y="260604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833165" y="27889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9425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15945" y="33741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307385" y="36301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</a:t>
            </a:r>
            <a:endParaRPr lang="en-US" sz="9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리버스 프록시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273345" y="26060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6B5545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74513" y="30175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132" y="3171139"/>
            <a:ext cx="241402" cy="241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142025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6142025" y="3136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API · 인증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· 챗봇 · MCP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336585" y="1874520"/>
            <a:ext cx="3063240" cy="1234440"/>
          </a:xfrm>
          <a:prstGeom prst="roundRect">
            <a:avLst>
              <a:gd name="adj" fmla="val 8889"/>
            </a:avLst>
          </a:prstGeom>
          <a:solidFill>
            <a:srgbClr val="EF7D6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537753" y="22174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372" y="237103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5265" y="20574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모델 서버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9205265" y="24048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· 하이브리드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Colab GPU 런타임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336585" y="3474720"/>
            <a:ext cx="3063240" cy="1234440"/>
          </a:xfrm>
          <a:prstGeom prst="roundRect">
            <a:avLst>
              <a:gd name="adj" fmla="val 8889"/>
            </a:avLst>
          </a:prstGeom>
          <a:solidFill>
            <a:srgbClr val="B85C3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537753" y="3817620"/>
            <a:ext cx="548640" cy="54864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F0E3D2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1372" y="3971239"/>
            <a:ext cx="241402" cy="2414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05265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9205265" y="40050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Storage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(JPA / 파일)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2941625" y="3287268"/>
            <a:ext cx="274320" cy="9144"/>
          </a:xfrm>
          <a:prstGeom prst="line">
            <a:avLst/>
          </a:prstGeom>
          <a:noFill/>
          <a:ln w="27940">
            <a:solidFill>
              <a:srgbClr val="6B5545"/>
            </a:solidFill>
            <a:prstDash val="solid"/>
            <a:headEnd type="none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4999025" y="3287268"/>
            <a:ext cx="274320" cy="9144"/>
          </a:xfrm>
          <a:prstGeom prst="line">
            <a:avLst/>
          </a:prstGeom>
          <a:noFill/>
          <a:ln w="27940">
            <a:solidFill>
              <a:srgbClr val="6B5545"/>
            </a:solidFill>
            <a:prstDash val="solid"/>
            <a:headEnd type="none"/>
            <a:tailEnd type="triangle"/>
          </a:ln>
        </p:spPr>
      </p:sp>
      <p:sp>
        <p:nvSpPr>
          <p:cNvPr id="34" name="Text 27"/>
          <p:cNvSpPr txBox="1"/>
          <p:nvPr/>
        </p:nvSpPr>
        <p:spPr>
          <a:xfrm>
            <a:off x="4587545" y="2428821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 flipV="1">
            <a:off x="7742225" y="2651760"/>
            <a:ext cx="594360" cy="502920"/>
          </a:xfrm>
          <a:prstGeom prst="line">
            <a:avLst/>
          </a:prstGeom>
          <a:noFill/>
          <a:ln w="27940">
            <a:solidFill>
              <a:srgbClr val="EF7D66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383780" y="2393115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요청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7742225" y="3429000"/>
            <a:ext cx="594360" cy="502920"/>
          </a:xfrm>
          <a:prstGeom prst="line">
            <a:avLst/>
          </a:prstGeom>
          <a:noFill/>
          <a:ln w="27940">
            <a:solidFill>
              <a:srgbClr val="B85C3C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7362749" y="39959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저장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792785" y="534924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1067105" y="550468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결정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262158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프론트+API 동일 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오리진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불필요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481614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쿠키 SameSite=Strict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CSRF 방어 유지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701070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서버 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외부화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추론은</a:t>
            </a: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Colab에서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9205265" y="550468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/</a:t>
            </a:r>
            <a:r>
              <a:rPr lang="en-US" sz="100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</a:t>
            </a: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0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채팅</a:t>
            </a:r>
            <a:endParaRPr lang="en-US" sz="100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pic>
        <p:nvPicPr>
          <p:cNvPr id="46" name="그림 45" descr="Supabase Icon &amp; Logo | Dashboard Icons &amp; Logos">
            <a:extLst>
              <a:ext uri="{FF2B5EF4-FFF2-40B4-BE49-F238E27FC236}">
                <a16:creationId xmlns:a16="http://schemas.microsoft.com/office/drawing/2014/main" id="{88E9F854-B599-A9C0-0B4E-1EED633342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7363" y="3911673"/>
            <a:ext cx="391450" cy="391450"/>
          </a:xfrm>
          <a:prstGeom prst="rect">
            <a:avLst/>
          </a:prstGeom>
        </p:spPr>
      </p:pic>
      <p:pic>
        <p:nvPicPr>
          <p:cNvPr id="47" name="그림 46" descr="Fastapi Icon &amp; Logo | Dashboard Icons &amp; Logos">
            <a:extLst>
              <a:ext uri="{FF2B5EF4-FFF2-40B4-BE49-F238E27FC236}">
                <a16:creationId xmlns:a16="http://schemas.microsoft.com/office/drawing/2014/main" id="{32581FBA-4963-E8CC-0F4E-02CC255042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8324" y="2313867"/>
            <a:ext cx="371780" cy="366450"/>
          </a:xfrm>
          <a:prstGeom prst="rect">
            <a:avLst/>
          </a:prstGeom>
        </p:spPr>
      </p:pic>
      <p:pic>
        <p:nvPicPr>
          <p:cNvPr id="48" name="그림 47" descr="Spring boot 로고 아이콘, 로고, 기호 – PNG, SVG 무료 다운로드">
            <a:extLst>
              <a:ext uri="{FF2B5EF4-FFF2-40B4-BE49-F238E27FC236}">
                <a16:creationId xmlns:a16="http://schemas.microsoft.com/office/drawing/2014/main" id="{4B859DE9-AE04-B315-68BF-92BB7E3B44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72484" y="3128554"/>
            <a:ext cx="363801" cy="3638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813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1385" y="1627632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004" y="1781251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52905" y="14813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810305" y="14813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· React Router 7 · Vite 8 · @stomp/stompjs · oxlint · PWA(설치)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2785" y="23957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021385" y="2542032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004" y="2695651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52905" y="23957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810305" y="23957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3.5.16 · Java 21 · Spring Data JPA · Security · WebSocket(STOMP) · JWT(jjwt)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2785" y="33101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21385" y="3456432"/>
            <a:ext cx="548640" cy="548640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5004" y="3610051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52905" y="33101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통합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3810305" y="33101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1.1.8 (MCP Server) · Anthropic Java SDK 2.52 · Caffeine 캐시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2785" y="42245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21385" y="4370832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5004" y="4524451"/>
            <a:ext cx="241402" cy="2414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752905" y="42245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3810305" y="42245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0.110 · PyTorch 2.x · torchvision(EfficientNet) · scikit-learn · Google Colab GPU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792785" y="5138928"/>
            <a:ext cx="10607040" cy="786384"/>
          </a:xfrm>
          <a:prstGeom prst="roundRect">
            <a:avLst>
              <a:gd name="adj" fmla="val 1395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021385" y="5285232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5004" y="5438851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752905" y="5138928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Infra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3810305" y="5138928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PostgreSQL · Supabase Storage · EC2 · nginx · certbot(HTTPS) · systemd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792785" y="61722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서버는 역할별로 격리하고, 무거운 계산(모델)과 실시간(WebSocket)은 별도 경로로 분리한다</a:t>
            </a:r>
            <a:endParaRPr lang="en-US" sz="1200" dirty="0"/>
          </a:p>
        </p:txBody>
      </p:sp>
      <p:sp>
        <p:nvSpPr>
          <p:cNvPr id="3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 &amp; SECURITY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&amp; 보안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63040"/>
            <a:ext cx="5486400" cy="4572000"/>
          </a:xfrm>
          <a:prstGeom prst="roundRect">
            <a:avLst>
              <a:gd name="adj" fmla="val 2800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67105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흐름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12825" y="214884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565" y="2307580"/>
            <a:ext cx="249448" cy="2494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90065" y="2130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OAuth 로그인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890065" y="24505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→ 회원 매핑/가입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384402" y="273405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2825" y="310896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565" y="3267700"/>
            <a:ext cx="249448" cy="2494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90065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 Token 발급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890065" y="3410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HS512 · 15분 · 요청 헤더로 인증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1384402" y="369417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8" name="Shape 14"/>
          <p:cNvSpPr/>
          <p:nvPr/>
        </p:nvSpPr>
        <p:spPr>
          <a:xfrm>
            <a:off x="1112825" y="406908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565" y="4227820"/>
            <a:ext cx="249448" cy="24944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90065" y="4050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 Token 회전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890065" y="43708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SHA-256 해시 저장 · HttpOnly 14일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1384402" y="4654296"/>
            <a:ext cx="23774" cy="3657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3" name="Shape 18"/>
          <p:cNvSpPr/>
          <p:nvPr/>
        </p:nvSpPr>
        <p:spPr>
          <a:xfrm>
            <a:off x="1112825" y="5029200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1565" y="5187940"/>
            <a:ext cx="249448" cy="2494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890065" y="50109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탐지 → 전체 폐기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890065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감지 시 해당 회원 토큰 전부 무효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507785" y="1463040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736385" y="1700784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0004" y="1854403"/>
            <a:ext cx="241402" cy="2414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467905" y="16824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 배포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467905" y="2048256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프론트와 API를 같은 도메인에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두어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제거하고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SameSite=Strict를 유지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6507785" y="3035808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6736385" y="3273552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0004" y="3427171"/>
            <a:ext cx="241402" cy="24140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467905" y="32552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오리진 통일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7467905" y="3621024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CORS와 STOMP 오리진 목록을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프로퍼티로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주입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"실시간만 조용히 죽는" 버그 차단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6507785" y="4608576"/>
            <a:ext cx="4892040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736385" y="4846320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0004" y="4999939"/>
            <a:ext cx="241402" cy="24140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467905" y="4828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 pet_id 신뢰 경계</a:t>
            </a:r>
            <a:endParaRPr lang="en-US" sz="1400" dirty="0"/>
          </a:p>
        </p:txBody>
      </p:sp>
      <p:sp>
        <p:nvSpPr>
          <p:cNvPr id="41" name="Text 32"/>
          <p:cNvSpPr txBox="1"/>
          <p:nvPr/>
        </p:nvSpPr>
        <p:spPr>
          <a:xfrm>
            <a:off x="7467905" y="519379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pet_id를 믿지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않고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요청의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petId로만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조회 — 권한 우회 방지</a:t>
            </a:r>
            <a:endParaRPr lang="en-US" sz="1150" dirty="0"/>
          </a:p>
        </p:txBody>
      </p:sp>
      <p:sp>
        <p:nvSpPr>
          <p:cNvPr id="4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· SHORTS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① 숏츠 (릴스)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서비스의 메인 화면. 촬영부터 발행까지 4단계 풀스크린 제작 플로우 + 세로 스냅 피드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88313" y="2359152"/>
            <a:ext cx="768096" cy="768096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380" y="2574219"/>
            <a:ext cx="337962" cy="33796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927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27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녹화</a:t>
            </a:r>
            <a:endParaRPr lang="en-US" sz="11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0225" y="2670048"/>
            <a:ext cx="329184" cy="32918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5359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31513" y="2359152"/>
            <a:ext cx="768096" cy="768096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580" y="2574219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359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5359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자르기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425" y="267004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2791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074713" y="2359152"/>
            <a:ext cx="768096" cy="768096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9780" y="2574219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2791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91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텍스트·음악·썸네일</a:t>
            </a:r>
            <a:endParaRPr lang="en-US" sz="11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2670048"/>
            <a:ext cx="329184" cy="32918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22385" y="2103120"/>
            <a:ext cx="2359152" cy="1554480"/>
          </a:xfrm>
          <a:prstGeom prst="roundRect">
            <a:avLst>
              <a:gd name="adj" fmla="val 823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817913" y="2359152"/>
            <a:ext cx="768096" cy="768096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2980" y="2574219"/>
            <a:ext cx="337962" cy="33796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022385" y="31546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</a:t>
            </a:r>
            <a:endParaRPr lang="en-US" sz="1600" dirty="0"/>
          </a:p>
        </p:txBody>
      </p:sp>
      <p:sp>
        <p:nvSpPr>
          <p:cNvPr id="29" name="Text 20"/>
          <p:cNvSpPr txBox="1"/>
          <p:nvPr/>
        </p:nvSpPr>
        <p:spPr>
          <a:xfrm>
            <a:off x="9022385" y="3429000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 업로드</a:t>
            </a:r>
            <a:endParaRPr lang="en-US" sz="1100" dirty="0"/>
          </a:p>
        </p:txBody>
      </p:sp>
      <p:sp>
        <p:nvSpPr>
          <p:cNvPr id="30" name="Shape 21"/>
          <p:cNvSpPr/>
          <p:nvPr/>
        </p:nvSpPr>
        <p:spPr>
          <a:xfrm>
            <a:off x="792785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1067105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6086" y="4375221"/>
            <a:ext cx="265542" cy="26554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067105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스냅 피드</a:t>
            </a:r>
            <a:endParaRPr lang="en-US" sz="1450" dirty="0"/>
          </a:p>
        </p:txBody>
      </p:sp>
      <p:sp>
        <p:nvSpPr>
          <p:cNvPr id="34" name="Text 24"/>
          <p:cNvSpPr txBox="1"/>
          <p:nvPr/>
        </p:nvSpPr>
        <p:spPr>
          <a:xfrm>
            <a:off x="1067105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개씩 몰입 감상 · 무거운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로드로 초기 번들 분리</a:t>
            </a:r>
            <a:endParaRPr lang="en-US" sz="1150" dirty="0"/>
          </a:p>
        </p:txBody>
      </p:sp>
      <p:sp>
        <p:nvSpPr>
          <p:cNvPr id="35" name="Shape 25"/>
          <p:cNvSpPr/>
          <p:nvPr/>
        </p:nvSpPr>
        <p:spPr>
          <a:xfrm>
            <a:off x="4413809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6" name="Shape 26"/>
          <p:cNvSpPr/>
          <p:nvPr/>
        </p:nvSpPr>
        <p:spPr>
          <a:xfrm>
            <a:off x="4688129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110" y="4375221"/>
            <a:ext cx="265542" cy="26554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688129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상호작용</a:t>
            </a:r>
            <a:endParaRPr lang="en-US" sz="1450" dirty="0"/>
          </a:p>
        </p:txBody>
      </p:sp>
      <p:sp>
        <p:nvSpPr>
          <p:cNvPr id="39" name="Text 28"/>
          <p:cNvSpPr txBox="1"/>
          <p:nvPr/>
        </p:nvSpPr>
        <p:spPr>
          <a:xfrm>
            <a:off x="4688129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댓글 · 신고 · 비로그인은 좋아요 시 로그인 유도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8034833" y="3977640"/>
            <a:ext cx="3401568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8309153" y="4206240"/>
            <a:ext cx="603504" cy="603504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8134" y="4375221"/>
            <a:ext cx="265542" cy="2655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309153" y="4937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 err="1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</a:t>
            </a:r>
            <a:endParaRPr lang="en-US" sz="1450" dirty="0"/>
          </a:p>
        </p:txBody>
      </p:sp>
      <p:sp>
        <p:nvSpPr>
          <p:cNvPr id="44" name="Text 32"/>
          <p:cNvSpPr txBox="1"/>
          <p:nvPr/>
        </p:nvSpPr>
        <p:spPr>
          <a:xfrm>
            <a:off x="8309153" y="52852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품질점수(로그 스케일 좋아요·조회)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태그 선호 2단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</a:t>
            </a:r>
            <a:endParaRPr lang="en-US" sz="1150" dirty="0">
              <a:solidFill>
                <a:srgbClr val="9A8D8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비로그인은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품질점수만</a:t>
            </a:r>
            <a:endParaRPr lang="en-US" sz="115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· OPEN CHAT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② 오픈채팅 (실시간)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over WebSocket 실시간 채팅 — 수신은 WebSocket, 발신은 REST로 분리한 하이브리드 설계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10607040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5854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132313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635" y="2690531"/>
            <a:ext cx="233355" cy="23335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3578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93578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/messages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76458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3A2E26"/>
          </a:solidFill>
          <a:ln/>
        </p:spPr>
      </p:sp>
      <p:sp>
        <p:nvSpPr>
          <p:cNvPr id="14" name="Shape 11"/>
          <p:cNvSpPr/>
          <p:nvPr/>
        </p:nvSpPr>
        <p:spPr>
          <a:xfrm>
            <a:off x="392917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675" y="2690531"/>
            <a:ext cx="233355" cy="23335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4182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54182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+ 이벤트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37062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B85C3C"/>
          </a:solidFill>
          <a:ln/>
        </p:spPr>
      </p:sp>
      <p:sp>
        <p:nvSpPr>
          <p:cNvPr id="19" name="Shape 15"/>
          <p:cNvSpPr/>
          <p:nvPr/>
        </p:nvSpPr>
        <p:spPr>
          <a:xfrm>
            <a:off x="653521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3715" y="2690531"/>
            <a:ext cx="233355" cy="23335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14786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Broadcaster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714786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/topic/rooms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/{id}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8976665" y="23317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F7D66"/>
          </a:solidFill>
          <a:ln/>
        </p:spPr>
      </p:sp>
      <p:sp>
        <p:nvSpPr>
          <p:cNvPr id="24" name="Shape 19"/>
          <p:cNvSpPr/>
          <p:nvPr/>
        </p:nvSpPr>
        <p:spPr>
          <a:xfrm>
            <a:off x="9141257" y="2542032"/>
            <a:ext cx="530352" cy="530352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9755" y="2690531"/>
            <a:ext cx="233355" cy="23335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53905" y="2468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구독자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753905" y="2743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8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수신</a:t>
            </a:r>
            <a:endParaRPr lang="en-US" sz="88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505" y="2633472"/>
            <a:ext cx="292608" cy="292608"/>
          </a:xfrm>
          <a:prstGeom prst="rect">
            <a:avLst/>
          </a:prstGeom>
        </p:spPr>
      </p:pic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0545" y="2633472"/>
            <a:ext cx="292608" cy="292608"/>
          </a:xfrm>
          <a:prstGeom prst="rect">
            <a:avLst/>
          </a:prstGeom>
        </p:spPr>
      </p:pic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6585" y="2633472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158545" y="33649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발신 = REST (POST)</a:t>
            </a:r>
            <a:endParaRPr lang="en-US" sz="950" dirty="0"/>
          </a:p>
        </p:txBody>
      </p:sp>
      <p:sp>
        <p:nvSpPr>
          <p:cNvPr id="32" name="Text 23"/>
          <p:cNvSpPr txBox="1"/>
          <p:nvPr/>
        </p:nvSpPr>
        <p:spPr>
          <a:xfrm>
            <a:off x="6279185" y="33649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= WebSocket 전용 (SimpleBroker)</a:t>
            </a:r>
            <a:endParaRPr lang="en-US" sz="950" dirty="0"/>
          </a:p>
        </p:txBody>
      </p:sp>
      <p:sp>
        <p:nvSpPr>
          <p:cNvPr id="33" name="Shape 24"/>
          <p:cNvSpPr/>
          <p:nvPr/>
        </p:nvSpPr>
        <p:spPr>
          <a:xfrm>
            <a:off x="792785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1067105" y="4215384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5845" y="4374124"/>
            <a:ext cx="249448" cy="24944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67105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운영</a:t>
            </a:r>
            <a:endParaRPr lang="en-US" sz="1450" dirty="0"/>
          </a:p>
        </p:txBody>
      </p:sp>
      <p:sp>
        <p:nvSpPr>
          <p:cNvPr id="37" name="Text 27"/>
          <p:cNvSpPr txBox="1"/>
          <p:nvPr/>
        </p:nvSpPr>
        <p:spPr>
          <a:xfrm>
            <a:off x="1067105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개설 · 검색/필터 · 정원 · 카테고리</a:t>
            </a:r>
            <a:endParaRPr lang="en-US" sz="1150" dirty="0"/>
          </a:p>
        </p:txBody>
      </p:sp>
      <p:sp>
        <p:nvSpPr>
          <p:cNvPr id="38" name="Shape 28"/>
          <p:cNvSpPr/>
          <p:nvPr/>
        </p:nvSpPr>
        <p:spPr>
          <a:xfrm>
            <a:off x="3517697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3792017" y="4215384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0757" y="4374124"/>
            <a:ext cx="249448" cy="249448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792017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권한</a:t>
            </a:r>
            <a:endParaRPr lang="en-US" sz="1450" dirty="0"/>
          </a:p>
        </p:txBody>
      </p:sp>
      <p:sp>
        <p:nvSpPr>
          <p:cNvPr id="42" name="Text 31"/>
          <p:cNvSpPr txBox="1"/>
          <p:nvPr/>
        </p:nvSpPr>
        <p:spPr>
          <a:xfrm>
            <a:off x="3792017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방장·매니저·일반 3종 · 위임 · 강퇴</a:t>
            </a:r>
            <a:endParaRPr lang="en-US" sz="1150" dirty="0"/>
          </a:p>
        </p:txBody>
      </p:sp>
      <p:sp>
        <p:nvSpPr>
          <p:cNvPr id="43" name="Shape 32"/>
          <p:cNvSpPr/>
          <p:nvPr/>
        </p:nvSpPr>
        <p:spPr>
          <a:xfrm>
            <a:off x="6242609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4" name="Shape 33"/>
          <p:cNvSpPr/>
          <p:nvPr/>
        </p:nvSpPr>
        <p:spPr>
          <a:xfrm>
            <a:off x="6516929" y="4215384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5669" y="4374124"/>
            <a:ext cx="249448" cy="2494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6516929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읽음 · 고정</a:t>
            </a:r>
            <a:endParaRPr lang="en-US" sz="1450" dirty="0"/>
          </a:p>
        </p:txBody>
      </p:sp>
      <p:sp>
        <p:nvSpPr>
          <p:cNvPr id="47" name="Text 35"/>
          <p:cNvSpPr txBox="1"/>
          <p:nvPr/>
        </p:nvSpPr>
        <p:spPr>
          <a:xfrm>
            <a:off x="6516929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읽음 수 · 방 고정 최대 5개</a:t>
            </a:r>
            <a:endParaRPr lang="en-US" sz="1150" dirty="0"/>
          </a:p>
        </p:txBody>
      </p:sp>
      <p:sp>
        <p:nvSpPr>
          <p:cNvPr id="48" name="Shape 36"/>
          <p:cNvSpPr/>
          <p:nvPr/>
        </p:nvSpPr>
        <p:spPr>
          <a:xfrm>
            <a:off x="8967521" y="3977640"/>
            <a:ext cx="2432304" cy="2011680"/>
          </a:xfrm>
          <a:prstGeom prst="roundRect">
            <a:avLst>
              <a:gd name="adj" fmla="val 6364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9" name="Shape 37"/>
          <p:cNvSpPr/>
          <p:nvPr/>
        </p:nvSpPr>
        <p:spPr>
          <a:xfrm>
            <a:off x="9241841" y="4215384"/>
            <a:ext cx="566928" cy="566928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0581" y="4374124"/>
            <a:ext cx="249448" cy="249448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241841" y="491032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메시지</a:t>
            </a:r>
            <a:endParaRPr lang="en-US" sz="1450" dirty="0"/>
          </a:p>
        </p:txBody>
      </p:sp>
      <p:sp>
        <p:nvSpPr>
          <p:cNvPr id="52" name="Text 39"/>
          <p:cNvSpPr txBox="1"/>
          <p:nvPr/>
        </p:nvSpPr>
        <p:spPr>
          <a:xfrm>
            <a:off x="9241841" y="5276088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트랜잭션 밖, 저장만 짧게</a:t>
            </a:r>
            <a:endParaRPr lang="en-US" sz="1150" dirty="0"/>
          </a:p>
        </p:txBody>
      </p:sp>
      <p:sp>
        <p:nvSpPr>
          <p:cNvPr id="53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DIAGNOSIS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③ AI 질병 진단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갈래의 진단 파이프라인 — 사진 한 장으로 피부질환을, 수치+문진으로 종합 위험도를 판정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5166360" cy="4069080"/>
          </a:xfrm>
          <a:prstGeom prst="roundRect">
            <a:avLst>
              <a:gd name="adj" fmla="val 359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2785" y="1965960"/>
            <a:ext cx="5166360" cy="1234440"/>
          </a:xfrm>
          <a:prstGeom prst="roundRect">
            <a:avLst>
              <a:gd name="adj" fmla="val 11852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792785" y="2834640"/>
            <a:ext cx="5166360" cy="365760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1112825" y="2286000"/>
            <a:ext cx="658368" cy="658368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68" y="2470343"/>
            <a:ext cx="289682" cy="28968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935785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A · VISION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935785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58545" y="3429000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3536533"/>
            <a:ext cx="168981" cy="16898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07185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B0~B3 아키텍처 체크포인트 자동 감지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58545" y="4087368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4194901"/>
            <a:ext cx="168981" cy="16898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07185" y="404164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12종 다중분류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구진성·농피증·탈모증 등 세부 질환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158545" y="4745736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4853269"/>
            <a:ext cx="168981" cy="16898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07185" y="4700016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앙상블 스크리닝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vs 질환 가능성 1차 판정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1158545" y="5404104"/>
            <a:ext cx="384048" cy="38404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078" y="5511637"/>
            <a:ext cx="168981" cy="168981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707185" y="5358384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컴퓨터비전 보정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발적·충혈 픽셀 지수 병행 분석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370625" y="1965960"/>
            <a:ext cx="5166360" cy="4069080"/>
          </a:xfrm>
          <a:prstGeom prst="roundRect">
            <a:avLst>
              <a:gd name="adj" fmla="val 359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370625" y="1965960"/>
            <a:ext cx="5166360" cy="1234440"/>
          </a:xfrm>
          <a:prstGeom prst="roundRect">
            <a:avLst>
              <a:gd name="adj" fmla="val 11852"/>
            </a:avLst>
          </a:prstGeom>
          <a:solidFill>
            <a:srgbClr val="EF7D66"/>
          </a:solidFill>
          <a:ln/>
        </p:spPr>
      </p:sp>
      <p:sp>
        <p:nvSpPr>
          <p:cNvPr id="28" name="Shape 21"/>
          <p:cNvSpPr/>
          <p:nvPr/>
        </p:nvSpPr>
        <p:spPr>
          <a:xfrm>
            <a:off x="6370625" y="2834640"/>
            <a:ext cx="5166360" cy="365760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29" name="Shape 22"/>
          <p:cNvSpPr/>
          <p:nvPr/>
        </p:nvSpPr>
        <p:spPr>
          <a:xfrm>
            <a:off x="6690665" y="2286000"/>
            <a:ext cx="658368" cy="658368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5008" y="247034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13625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TRACK B · HYBRID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7513625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진단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6736385" y="3429000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3536533"/>
            <a:ext cx="168981" cy="168981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285025" y="3383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5종 MLP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나이·체중·CRP·IgG·IL-6 신경망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6736385" y="4087368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4194901"/>
            <a:ext cx="168981" cy="168981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285025" y="4041648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 텍스트 분석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키워드 위험 가중치 규칙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736385" y="4745736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4853269"/>
            <a:ext cx="168981" cy="168981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285025" y="4700016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위험도 점수제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50점 임계값 → NOR / ABN 판정</a:t>
            </a:r>
            <a:endParaRPr lang="en-US" sz="1200" dirty="0"/>
          </a:p>
        </p:txBody>
      </p:sp>
      <p:sp>
        <p:nvSpPr>
          <p:cNvPr id="42" name="Shape 31"/>
          <p:cNvSpPr/>
          <p:nvPr/>
        </p:nvSpPr>
        <p:spPr>
          <a:xfrm>
            <a:off x="6736385" y="5404104"/>
            <a:ext cx="384048" cy="38404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918" y="5511637"/>
            <a:ext cx="168981" cy="168981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285025" y="5358384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소견 출력  </a:t>
            </a:r>
            <a:r>
              <a:rPr lang="en-US" sz="12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결과를 문서로 저장·공유</a:t>
            </a:r>
            <a:endParaRPr lang="en-US" sz="1200" dirty="0"/>
          </a:p>
        </p:txBody>
      </p:sp>
      <p:sp>
        <p:nvSpPr>
          <p:cNvPr id="45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· TRACK 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피부질환 이미지 진단 파이프라인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3177" y="1755648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520" y="1939991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927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927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224×224 정규화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0225" y="2057400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359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86377" y="1755648"/>
            <a:ext cx="658368" cy="65836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720" y="1939991"/>
            <a:ext cx="289682" cy="28968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59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5359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차원 감지 → 백본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3425" y="2057400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791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129577" y="1755648"/>
            <a:ext cx="658368" cy="65836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920" y="1939991"/>
            <a:ext cx="289682" cy="28968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2791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앙상블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62791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정상/질환 스크리닝</a:t>
            </a:r>
            <a:endParaRPr lang="en-US" sz="10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625" y="2057400"/>
            <a:ext cx="329184" cy="32918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9022385" y="1554480"/>
            <a:ext cx="2359152" cy="1417320"/>
          </a:xfrm>
          <a:prstGeom prst="roundRect">
            <a:avLst>
              <a:gd name="adj" fmla="val 9032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9872777" y="1755648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7120" y="1939991"/>
            <a:ext cx="289682" cy="28968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022385" y="24688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12종 분류</a:t>
            </a:r>
            <a:endParaRPr lang="en-US" sz="1400" dirty="0"/>
          </a:p>
        </p:txBody>
      </p:sp>
      <p:sp>
        <p:nvSpPr>
          <p:cNvPr id="28" name="Text 19"/>
          <p:cNvSpPr txBox="1"/>
          <p:nvPr/>
        </p:nvSpPr>
        <p:spPr>
          <a:xfrm>
            <a:off x="9022385" y="2724912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 소견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792785" y="324612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0" name="Shape 21"/>
          <p:cNvSpPr/>
          <p:nvPr/>
        </p:nvSpPr>
        <p:spPr>
          <a:xfrm>
            <a:off x="1021385" y="3401568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5004" y="3555187"/>
            <a:ext cx="241402" cy="2414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752905" y="32461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자동 감지</a:t>
            </a:r>
            <a:endParaRPr lang="en-US" sz="1350" dirty="0"/>
          </a:p>
        </p:txBody>
      </p:sp>
      <p:sp>
        <p:nvSpPr>
          <p:cNvPr id="33" name="Text 23"/>
          <p:cNvSpPr txBox="1"/>
          <p:nvPr/>
        </p:nvSpPr>
        <p:spPr>
          <a:xfrm>
            <a:off x="4496105" y="324612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first-conv·classifier 텐서 차원을 교차 검증해 B0/B1/B2/B3 백본을 런타임에 자동 매칭. Colab 체크포인트 키(module. 접두어 등)도 자동 정돈.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792785" y="4197096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1021385" y="4352544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5004" y="4506163"/>
            <a:ext cx="241402" cy="24140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1752905" y="4197096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앙상블 스크리닝</a:t>
            </a:r>
            <a:endParaRPr lang="en-US" sz="1350" dirty="0"/>
          </a:p>
        </p:txBody>
      </p:sp>
      <p:sp>
        <p:nvSpPr>
          <p:cNvPr id="38" name="Text 27"/>
          <p:cNvSpPr txBox="1"/>
          <p:nvPr/>
        </p:nvSpPr>
        <p:spPr>
          <a:xfrm>
            <a:off x="4496105" y="4197096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모델과 다중 모델을 함께 써 "정상 vs 피부질환 가능성"을 1차로 거른 뒤 세부 12종으로 넘긴다.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792785" y="5148072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Shape 29"/>
          <p:cNvSpPr/>
          <p:nvPr/>
        </p:nvSpPr>
        <p:spPr>
          <a:xfrm>
            <a:off x="1021385" y="5303520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5004" y="545713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1752905" y="514807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컴퓨터비전 보정</a:t>
            </a:r>
            <a:endParaRPr lang="en-US" sz="1350" dirty="0"/>
          </a:p>
        </p:txBody>
      </p:sp>
      <p:sp>
        <p:nvSpPr>
          <p:cNvPr id="43" name="Text 31"/>
          <p:cNvSpPr txBox="1"/>
          <p:nvPr/>
        </p:nvSpPr>
        <p:spPr>
          <a:xfrm>
            <a:off x="4496105" y="5148072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딥러닝과 별개로 R&gt;G·R&gt;B 픽셀 마스크로 발적/충혈 비율을 계산해 활성 병변 여부를 교차 확인.</a:t>
            </a:r>
            <a:endParaRPr lang="en-US" sz="1150" dirty="0"/>
          </a:p>
        </p:txBody>
      </p:sp>
      <p:sp>
        <p:nvSpPr>
          <p:cNvPr id="44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· TRACK B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위험도 점수제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신경망 확률을 기준점(base)으로, 바이오마커·증상 키워드 가중치를 더해 최종 위험도를 산출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3200400" cy="4069080"/>
          </a:xfrm>
          <a:prstGeom prst="roundRect">
            <a:avLst>
              <a:gd name="adj" fmla="val 4000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214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7105" y="256032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5종 (MLP)
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· 체중 · CRP · IgG · IL-6
</a:t>
            </a:r>
            <a:r>
              <a:rPr lang="en-US" sz="1300" b="1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 텍스트
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보호자가 서술한 증상 자연어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7105" y="43434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StandardScaler(.pkl) </a:t>
            </a: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표준화로 </a:t>
            </a:r>
            <a:r>
              <a:rPr lang="en-US" sz="1100" i="1" dirty="0" err="1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</a:t>
            </a: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자산 로드 실패에도 서버는 뜬다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21785" y="1965960"/>
            <a:ext cx="3977640" cy="4069080"/>
          </a:xfrm>
          <a:prstGeom prst="roundRect">
            <a:avLst>
              <a:gd name="adj" fmla="val 321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96105" y="21214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가산 규칙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41825" y="2651760"/>
            <a:ext cx="146304" cy="146304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6145" y="25786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위험도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16145" y="2871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ABN 확률 (최대 20점)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41825" y="3337560"/>
            <a:ext cx="146304" cy="146304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6145" y="32644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바이오마커 이상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16145" y="35570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CRP·IL-6·IgG 초과 → +30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41825" y="4023360"/>
            <a:ext cx="146304" cy="146304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16145" y="39502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치명 응급 키워드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16145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혈토·호흡곤란·혈변 → +35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41825" y="4709160"/>
            <a:ext cx="146304" cy="146304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16145" y="46360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중등도 키워드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816145" y="4928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연속구토·물설사 → 개당 +12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41825" y="5394960"/>
            <a:ext cx="146304" cy="146304"/>
          </a:xfrm>
          <a:prstGeom prst="ellipse">
            <a:avLst/>
          </a:prstGeom>
          <a:solidFill>
            <a:srgbClr val="9A8D8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16145" y="5321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경미 키워드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816145" y="56144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1회성구토·그루밍 → 완화 −5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28025" y="1965960"/>
            <a:ext cx="2971800" cy="4069080"/>
          </a:xfrm>
          <a:prstGeom prst="roundRect">
            <a:avLst>
              <a:gd name="adj" fmla="val 4308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702345" y="2121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702345" y="2606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4E3E33"/>
          </a:solidFill>
          <a:ln w="12700">
            <a:solidFill>
              <a:srgbClr val="6B5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02345" y="2606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 50점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702345" y="3383280"/>
            <a:ext cx="2423160" cy="1051560"/>
          </a:xfrm>
          <a:prstGeom prst="roundRect">
            <a:avLst>
              <a:gd name="adj" fmla="val 10435"/>
            </a:avLst>
          </a:prstGeom>
          <a:solidFill>
            <a:srgbClr val="D89A4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02345" y="34930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8702345" y="39136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3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50점 · 경과 관찰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702345" y="457200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D2553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02345" y="47000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ABN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702345" y="510235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≥ 50점</a:t>
            </a:r>
            <a:endParaRPr lang="en-US" sz="11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진료 권장</a:t>
            </a:r>
            <a:endParaRPr lang="en-US" sz="1100" dirty="0"/>
          </a:p>
        </p:txBody>
      </p:sp>
      <p:sp>
        <p:nvSpPr>
          <p:cNvPr id="38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CHATBOT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— function calling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Messages API의 tool-use 루프를 직접 구현 — 필요할 때 도구를 호출해 근거를 확보하고 답변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5623560" cy="4069080"/>
          </a:xfrm>
          <a:prstGeom prst="roundRect">
            <a:avLst>
              <a:gd name="adj" fmla="val 3146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Tool-use 루프 (최대 5회)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58545" y="2651760"/>
            <a:ext cx="566928" cy="56692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285" y="2810500"/>
            <a:ext cx="249448" cy="2494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35785" y="26334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질문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935785" y="29535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애 어디가 안 좋을까?"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420978" y="3236976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4" name="Shape 11"/>
          <p:cNvSpPr/>
          <p:nvPr/>
        </p:nvSpPr>
        <p:spPr>
          <a:xfrm>
            <a:off x="1158545" y="3493008"/>
            <a:ext cx="566928" cy="566928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7285" y="3651748"/>
            <a:ext cx="249448" cy="24944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935785" y="3474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판단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35785" y="3794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필요 여부 결정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1420978" y="4078224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9" name="Shape 15"/>
          <p:cNvSpPr/>
          <p:nvPr/>
        </p:nvSpPr>
        <p:spPr>
          <a:xfrm>
            <a:off x="1158545" y="4334256"/>
            <a:ext cx="566928" cy="56692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7285" y="4492996"/>
            <a:ext cx="249448" cy="24944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935785" y="431596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실행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935785" y="4636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Spring이 실제 조회 수행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1420978" y="4919472"/>
            <a:ext cx="23774" cy="256032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4" name="Shape 19"/>
          <p:cNvSpPr/>
          <p:nvPr/>
        </p:nvSpPr>
        <p:spPr>
          <a:xfrm>
            <a:off x="1158545" y="5175504"/>
            <a:ext cx="566928" cy="56692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285" y="5334244"/>
            <a:ext cx="249448" cy="24944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935785" y="51572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반영 답변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935785" y="54772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+ 병원 추천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6690665" y="2084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도구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6553505" y="2514600"/>
            <a:ext cx="4846320" cy="1371600"/>
          </a:xfrm>
          <a:prstGeom prst="roundRect">
            <a:avLst>
              <a:gd name="adj" fmla="val 9333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782105" y="2734056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24" y="2887675"/>
            <a:ext cx="241402" cy="24140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486193" y="273405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get_disease_prediction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7486193" y="3081528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질병예측(이상 징후) 결과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건강/병원 질문의 근거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553505" y="3995928"/>
            <a:ext cx="4846320" cy="1371600"/>
          </a:xfrm>
          <a:prstGeom prst="roundRect">
            <a:avLst>
              <a:gd name="adj" fmla="val 9333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782105" y="4215384"/>
            <a:ext cx="548640" cy="548640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5724" y="4369003"/>
            <a:ext cx="241402" cy="2414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486193" y="42153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search_places</a:t>
            </a:r>
            <a:endParaRPr lang="en-US" sz="1350" dirty="0"/>
          </a:p>
        </p:txBody>
      </p:sp>
      <p:sp>
        <p:nvSpPr>
          <p:cNvPr id="38" name="Text 30"/>
          <p:cNvSpPr txBox="1"/>
          <p:nvPr/>
        </p:nvSpPr>
        <p:spPr>
          <a:xfrm>
            <a:off x="7486193" y="4562856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좌표+키워드로 주변 동물병원/카페/호텔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(카카오 로컬)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553505" y="5486400"/>
            <a:ext cx="4846320" cy="548640"/>
          </a:xfrm>
          <a:prstGeom prst="roundRect">
            <a:avLst>
              <a:gd name="adj" fmla="val 16667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6736385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없으면 되묻기 · 모델 ID는 프로퍼티 주입 · 질병예측 </a:t>
            </a:r>
            <a:r>
              <a:rPr lang="en-US" sz="1050" dirty="0" err="1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</a:t>
            </a: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 err="1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mock(인터페이스로 교체 가능)</a:t>
            </a:r>
            <a:endParaRPr lang="en-US" sz="1050" dirty="0"/>
          </a:p>
        </p:txBody>
      </p:sp>
      <p:sp>
        <p:nvSpPr>
          <p:cNvPr id="41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— 도메인 도구를 외부 AI로 확장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MCP Server로 같은 비즈니스 로직을 Claude Desktop 등 외부 AI 호스트에 도구로 재노출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64585" y="2011680"/>
            <a:ext cx="3886200" cy="1371600"/>
          </a:xfrm>
          <a:prstGeom prst="roundRect">
            <a:avLst>
              <a:gd name="adj" fmla="val 9333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038905" y="2423160"/>
            <a:ext cx="548640" cy="54864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2524" y="257677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42993" y="2331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AI MCP Server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4742993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stdio + HTTP(SSE) 이중 노출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764585" y="178308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AI 호스트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92785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679753" y="4197096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4096" y="4381439"/>
            <a:ext cx="289682" cy="28968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92785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질병예측 조회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92785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getDiseasePrediction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1999793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19" name="Shape 15"/>
          <p:cNvSpPr/>
          <p:nvPr/>
        </p:nvSpPr>
        <p:spPr>
          <a:xfrm>
            <a:off x="3517697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404665" y="4197096"/>
            <a:ext cx="658368" cy="658368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008" y="4381439"/>
            <a:ext cx="289682" cy="28968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517697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검색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517697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searchPlaces (카카오)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24705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25" name="Shape 20"/>
          <p:cNvSpPr/>
          <p:nvPr/>
        </p:nvSpPr>
        <p:spPr>
          <a:xfrm>
            <a:off x="6242609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129577" y="4197096"/>
            <a:ext cx="658368" cy="658368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920" y="4381439"/>
            <a:ext cx="289682" cy="28968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242609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날씨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242609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기온·아스팔트 온도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7449617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67521" y="3977640"/>
            <a:ext cx="2432304" cy="1691640"/>
          </a:xfrm>
          <a:prstGeom prst="roundRect">
            <a:avLst>
              <a:gd name="adj" fmla="val 7568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9854489" y="4197096"/>
            <a:ext cx="658368" cy="658368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8832" y="4381439"/>
            <a:ext cx="289682" cy="28968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967521" y="493776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브리핑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8967521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적기·경고 판정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10174529" y="3383280"/>
            <a:ext cx="18288" cy="594360"/>
          </a:xfrm>
          <a:prstGeom prst="rect">
            <a:avLst/>
          </a:prstGeom>
          <a:solidFill>
            <a:srgbClr val="F0E3D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92785" y="58521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어댑터 원칙 — 기존 서비스에 위임(질병예측은 현재 mock) · 기본 프로파일에선 비활성화로 격리</a:t>
            </a:r>
            <a:endParaRPr lang="en-US" sz="1150" dirty="0"/>
          </a:p>
        </p:txBody>
      </p:sp>
      <p:sp>
        <p:nvSpPr>
          <p:cNvPr id="38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LOCATION &amp; MORE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· 산책 · 부가 기능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85393" y="1783080"/>
            <a:ext cx="658368" cy="658368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36" y="1967423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03681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장소 검색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03681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+ 카카오 로컬로 동물병원·애견카페·애견호텔 검색.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약관상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영구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r>
              <a:rPr lang="en-US" altLang="ko-KR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Caffeine TTL 캐시만.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32097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24705" y="1783080"/>
            <a:ext cx="658368" cy="658368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048" y="1967423"/>
            <a:ext cx="289682" cy="28968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42993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트래킹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742993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위치 트래커로 산책 경로 기록.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아스팔트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 경고·산책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적기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71409" y="150876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4017" y="1783080"/>
            <a:ext cx="658368" cy="658368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60" y="1967423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2305" y="253288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PWA 설치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82305" y="28803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퍼스트 설계. 홈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앱처럼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설치(InstallApp)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브라우저 없이 바로 진입.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92785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85393" y="4160520"/>
            <a:ext cx="658368" cy="658368"/>
          </a:xfrm>
          <a:prstGeom prst="ellipse">
            <a:avLst/>
          </a:prstGeom>
          <a:solidFill>
            <a:srgbClr val="6B5545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9736" y="4344863"/>
            <a:ext cx="289682" cy="28968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03681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103681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프로필·펫 관리·보안·탈퇴.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펫 등록/상세/수정, 노출 순서 조정까지.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432097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24705" y="4160520"/>
            <a:ext cx="658368" cy="658368"/>
          </a:xfrm>
          <a:prstGeom prst="ellipse">
            <a:avLst/>
          </a:prstGeom>
          <a:solidFill>
            <a:srgbClr val="B85C3C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048" y="4344863"/>
            <a:ext cx="289682" cy="28968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42993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742993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상단 배너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노출/관리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1409" y="3886200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64017" y="4160520"/>
            <a:ext cx="658368" cy="658368"/>
          </a:xfrm>
          <a:prstGeom prst="ellipse">
            <a:avLst/>
          </a:prstGeom>
          <a:solidFill>
            <a:srgbClr val="EF7D66"/>
          </a:solidFill>
          <a:ln/>
          <a:effectLst>
            <a:outerShdw blurRad="76200" dist="25400" dir="5400000" algn="bl" rotWithShape="0">
              <a:srgbClr val="5A3C1E">
                <a:alpha val="18000"/>
              </a:srgbClr>
            </a:outerShdw>
          </a:effectLst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8360" y="4344863"/>
            <a:ext cx="289682" cy="28968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382305" y="4910328"/>
            <a:ext cx="2761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82305" y="5257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펫 프로필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진단·채팅·지도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진입점을</a:t>
            </a:r>
            <a:r>
              <a:rPr lang="en-US" sz="11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하나로.</a:t>
            </a:r>
            <a:endParaRPr lang="en-US" sz="1150" dirty="0"/>
          </a:p>
        </p:txBody>
      </p:sp>
      <p:sp>
        <p:nvSpPr>
          <p:cNvPr id="3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(PostgreSQL · JPA)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14개 테이블 · 3개 도메인 — 회원(pet_member)을 중심으로 콘텐츠·활동이 붙는 구조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2785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6B5545"/>
          </a:solidFill>
          <a:ln/>
        </p:spPr>
      </p:sp>
      <p:sp>
        <p:nvSpPr>
          <p:cNvPr id="9" name="Shape 7"/>
          <p:cNvSpPr/>
          <p:nvPr/>
        </p:nvSpPr>
        <p:spPr>
          <a:xfrm>
            <a:off x="792785" y="2560320"/>
            <a:ext cx="3310128" cy="365760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12" y="2320747"/>
            <a:ext cx="241402" cy="2414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752905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반려동물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1103681" y="325526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59713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59713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카카오/일반 계정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103681" y="403250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59713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59713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회전·재사용 탐지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103681" y="4809744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59713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59713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품종·생년월일·노출 순서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32097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32097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B85C3C"/>
          </a:solidFill>
          <a:ln/>
        </p:spPr>
      </p:sp>
      <p:sp>
        <p:nvSpPr>
          <p:cNvPr id="24" name="Shape 21"/>
          <p:cNvSpPr/>
          <p:nvPr/>
        </p:nvSpPr>
        <p:spPr>
          <a:xfrm>
            <a:off x="4432097" y="2560320"/>
            <a:ext cx="3310128" cy="365760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25" name="Shape 22"/>
          <p:cNvSpPr/>
          <p:nvPr/>
        </p:nvSpPr>
        <p:spPr>
          <a:xfrm>
            <a:off x="4724705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2320747"/>
            <a:ext cx="241402" cy="24140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392217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· 콘텐츠</a:t>
            </a:r>
            <a:endParaRPr lang="en-US" sz="1550" dirty="0"/>
          </a:p>
        </p:txBody>
      </p:sp>
      <p:sp>
        <p:nvSpPr>
          <p:cNvPr id="28" name="Shape 24"/>
          <p:cNvSpPr/>
          <p:nvPr/>
        </p:nvSpPr>
        <p:spPr>
          <a:xfrm>
            <a:off x="4742993" y="325526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4999025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 · chat_message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4999025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 방 · 메시지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742993" y="403250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999025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999025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관계 · 권한 · 읽음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742993" y="4809744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999025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 (+ 3 테이블)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4999025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· 좋아요 · 댓글 · 이벤트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8071409" y="1965960"/>
            <a:ext cx="3310128" cy="3749040"/>
          </a:xfrm>
          <a:prstGeom prst="roundRect">
            <a:avLst>
              <a:gd name="adj" fmla="val 386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071409" y="1965960"/>
            <a:ext cx="3310128" cy="960120"/>
          </a:xfrm>
          <a:prstGeom prst="roundRect">
            <a:avLst>
              <a:gd name="adj" fmla="val 13333"/>
            </a:avLst>
          </a:prstGeom>
          <a:solidFill>
            <a:srgbClr val="EF7D66"/>
          </a:solidFill>
          <a:ln/>
        </p:spPr>
      </p:sp>
      <p:sp>
        <p:nvSpPr>
          <p:cNvPr id="39" name="Shape 35"/>
          <p:cNvSpPr/>
          <p:nvPr/>
        </p:nvSpPr>
        <p:spPr>
          <a:xfrm>
            <a:off x="8071409" y="2560320"/>
            <a:ext cx="3310128" cy="365760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40" name="Shape 36"/>
          <p:cNvSpPr/>
          <p:nvPr/>
        </p:nvSpPr>
        <p:spPr>
          <a:xfrm>
            <a:off x="8364017" y="2167128"/>
            <a:ext cx="548640" cy="548640"/>
          </a:xfrm>
          <a:prstGeom prst="ellipse">
            <a:avLst/>
          </a:prstGeom>
          <a:solidFill>
            <a:srgbClr val="FFFDFA"/>
          </a:solidFill>
          <a:ln/>
        </p:spPr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7636" y="2320747"/>
            <a:ext cx="241402" cy="241402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031529" y="19659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· 운영</a:t>
            </a:r>
            <a:endParaRPr lang="en-US" sz="1550" dirty="0"/>
          </a:p>
        </p:txBody>
      </p:sp>
      <p:sp>
        <p:nvSpPr>
          <p:cNvPr id="43" name="Shape 38"/>
          <p:cNvSpPr/>
          <p:nvPr/>
        </p:nvSpPr>
        <p:spPr>
          <a:xfrm>
            <a:off x="8382305" y="325526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8638337" y="320040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1200" dirty="0"/>
          </a:p>
        </p:txBody>
      </p:sp>
      <p:sp>
        <p:nvSpPr>
          <p:cNvPr id="45" name="Text 40"/>
          <p:cNvSpPr txBox="1"/>
          <p:nvPr/>
        </p:nvSpPr>
        <p:spPr>
          <a:xfrm>
            <a:off x="8638337" y="345643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· 거리 · 당시 온도</a:t>
            </a:r>
            <a:endParaRPr lang="en-US" sz="1050" dirty="0"/>
          </a:p>
        </p:txBody>
      </p:sp>
      <p:sp>
        <p:nvSpPr>
          <p:cNvPr id="46" name="Shape 41"/>
          <p:cNvSpPr/>
          <p:nvPr/>
        </p:nvSpPr>
        <p:spPr>
          <a:xfrm>
            <a:off x="8382305" y="403250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8638337" y="3977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8638337" y="423367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위험도 판정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8382305" y="480974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8638337" y="475488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8638337" y="5010912"/>
            <a:ext cx="248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노출 관리</a:t>
            </a:r>
            <a:endParaRPr lang="en-US" sz="1050" dirty="0"/>
          </a:p>
        </p:txBody>
      </p:sp>
      <p:sp>
        <p:nvSpPr>
          <p:cNvPr id="52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관계도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533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pet_member를 허브로 4개 도메인이 뻗어나가는 구조 — 화살표는 1:N (부모 → 자식)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flipV="1">
            <a:off x="1844345" y="2788920"/>
            <a:ext cx="12802" cy="562356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284525" y="2304288"/>
            <a:ext cx="12802" cy="1481328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525" y="2304288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284525" y="3621024"/>
            <a:ext cx="12802" cy="16459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84525" y="3621024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95905" y="3785616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84525" y="3785616"/>
            <a:ext cx="12802" cy="1481328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4525" y="5266944"/>
            <a:ext cx="388620" cy="12802"/>
          </a:xfrm>
          <a:prstGeom prst="line">
            <a:avLst/>
          </a:prstGeom>
          <a:noFill/>
          <a:ln w="19050">
            <a:solidFill>
              <a:srgbClr val="C09A7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67705" y="230428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096305" y="1975104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96305" y="197510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867705" y="230428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6305" y="2304288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96305" y="2633472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67705" y="362102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096305" y="3291840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6305" y="3291840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867705" y="362102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305" y="3621024"/>
            <a:ext cx="12802" cy="329184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96305" y="3950208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6096305" y="4608576"/>
            <a:ext cx="12802" cy="658368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6305" y="4608576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3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8677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96305" y="5266944"/>
            <a:ext cx="12802" cy="658368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305" y="5925312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109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39505" y="5266944"/>
            <a:ext cx="228600" cy="12802"/>
          </a:xfrm>
          <a:prstGeom prst="line">
            <a:avLst/>
          </a:prstGeom>
          <a:noFill/>
          <a:ln w="19050">
            <a:solidFill>
              <a:srgbClr val="D8C4A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92785" y="3351276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3A2E26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20801" y="3721608"/>
            <a:ext cx="128016" cy="128016"/>
          </a:xfrm>
          <a:prstGeom prst="ellipse">
            <a:avLst/>
          </a:prstGeom>
          <a:solidFill>
            <a:srgbClr val="FFFD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21969" y="34792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121969" y="37901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— 모든 도메인의 소유자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5" y="224028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0801" y="2450592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21969" y="2313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121969" y="25328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리프레시 토큰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73145" y="1975104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801161" y="2240280"/>
            <a:ext cx="128016" cy="128016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02329" y="20482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002329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673145" y="3291840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801161" y="3557016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002329" y="33649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4002329" y="3584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오픈채팅방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673145" y="4937760"/>
            <a:ext cx="2194560" cy="658368"/>
          </a:xfrm>
          <a:prstGeom prst="roundRect">
            <a:avLst>
              <a:gd name="adj" fmla="val 11111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380116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002329" y="50109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002329" y="5230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영상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24905" y="170078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2921" y="1911096"/>
            <a:ext cx="128016" cy="128016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654089" y="17739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654089" y="1993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기록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24905" y="235915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52921" y="2569464"/>
            <a:ext cx="128016" cy="128016"/>
          </a:xfrm>
          <a:prstGeom prst="ellipse">
            <a:avLst/>
          </a:prstGeom>
          <a:solidFill>
            <a:srgbClr val="D89A4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654089" y="24323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654089" y="26517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산책 브리핑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324905" y="301752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452921" y="3227832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654089" y="309067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654089" y="3310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참여 관계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8354873" y="3191256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354873" y="3191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324905" y="3675888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6452921" y="3886200"/>
            <a:ext cx="128016" cy="128016"/>
          </a:xfrm>
          <a:prstGeom prst="ellipse">
            <a:avLst/>
          </a:prstGeom>
          <a:solidFill>
            <a:srgbClr val="B85C3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654089" y="374904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chat_message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654089" y="39684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메시지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8354873" y="3849624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8354873" y="38496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6324905" y="4334256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452921" y="4544568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6654089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shorts_like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6654089" y="46268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좋아요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8354873" y="4507992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354873" y="45079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324905" y="49926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645292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654089" y="50657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6654089" y="5285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댓글  ↺ parent_id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8354873" y="5166360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354873" y="5166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6324905" y="5650992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6452921" y="5861304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654089" y="572414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shorts_event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6654089" y="59436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 이벤트 로그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354873" y="5824728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8354873" y="5824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068105" y="499262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9196121" y="5202936"/>
            <a:ext cx="128016" cy="128016"/>
          </a:xfrm>
          <a:prstGeom prst="ellipse">
            <a:avLst/>
          </a:prstGeom>
          <a:solidFill>
            <a:srgbClr val="EF7D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97289" y="50657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shorts_comment_like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9397289" y="5285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좋아요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1098073" y="5166360"/>
            <a:ext cx="201168" cy="201168"/>
          </a:xfrm>
          <a:prstGeom prst="ellipse">
            <a:avLst/>
          </a:prstGeom>
          <a:solidFill>
            <a:srgbClr val="6B554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1098073" y="5166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9068105" y="1700784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9196121" y="1911096"/>
            <a:ext cx="128016" cy="128016"/>
          </a:xfrm>
          <a:prstGeom prst="ellipse">
            <a:avLst/>
          </a:prstGeom>
          <a:solidFill>
            <a:srgbClr val="9A8D80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397289" y="17739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9397289" y="1993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배너 — 독립 테이블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2667305" y="35295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member_id</a:t>
            </a:r>
            <a:endParaRPr lang="en-US" sz="700" dirty="0"/>
          </a:p>
        </p:txBody>
      </p:sp>
      <p:sp>
        <p:nvSpPr>
          <p:cNvPr id="108" name="Text 106"/>
          <p:cNvSpPr txBox="1"/>
          <p:nvPr/>
        </p:nvSpPr>
        <p:spPr>
          <a:xfrm>
            <a:off x="5364785" y="18470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pet_id</a:t>
            </a:r>
            <a:endParaRPr lang="en-US" sz="700" dirty="0"/>
          </a:p>
        </p:txBody>
      </p:sp>
      <p:sp>
        <p:nvSpPr>
          <p:cNvPr id="109" name="Text 107"/>
          <p:cNvSpPr txBox="1"/>
          <p:nvPr/>
        </p:nvSpPr>
        <p:spPr>
          <a:xfrm>
            <a:off x="5364785" y="316382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room_id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5364785" y="4809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short_id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8153705" y="488289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comment_id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92785" y="6309360"/>
            <a:ext cx="10607040" cy="329184"/>
          </a:xfrm>
          <a:prstGeom prst="roundRect">
            <a:avLst>
              <a:gd name="adj" fmla="val 22222"/>
            </a:avLst>
          </a:prstGeom>
          <a:solidFill>
            <a:srgbClr val="F6EAD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21385" y="6309360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 = 1:N (부모 → 자식)   |   Ⓜ = member_id로 pet_member 참조   |   chat_room.pinned_message_id → chat_message (공지 핀)   |   shorts_comment.parent_id 자기참조(대댓글)</a:t>
            </a:r>
            <a:endParaRPr lang="en-US" sz="850" dirty="0"/>
          </a:p>
        </p:txBody>
      </p:sp>
      <p:sp>
        <p:nvSpPr>
          <p:cNvPr id="114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상세 (ERD)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533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정의서 기준 14개 테이블 — JPA 연관관계 대신 ID 참조(Long)로 애그리거트 경계를 분리했습니다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9278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5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인증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9278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278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10" name="Shape 8"/>
          <p:cNvSpPr/>
          <p:nvPr/>
        </p:nvSpPr>
        <p:spPr>
          <a:xfrm>
            <a:off x="792785" y="2011680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2080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pet_member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2080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92080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 · password · name · role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92080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provider(+id) · created/updated/deleted_at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92785" y="3511296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2785" y="3511296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17" name="Shape 15"/>
          <p:cNvSpPr/>
          <p:nvPr/>
        </p:nvSpPr>
        <p:spPr>
          <a:xfrm>
            <a:off x="792785" y="3675888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0801" y="35112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refresh_tokens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20801" y="389534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token_id   FK  member_id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20801" y="406450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token_hash · session_id · device_info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920801" y="423367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expires/revoked_at · revoked_reason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92785" y="5175504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2785" y="5175504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6B5545"/>
          </a:solidFill>
          <a:ln/>
        </p:spPr>
      </p:sp>
      <p:sp>
        <p:nvSpPr>
          <p:cNvPr id="24" name="Shape 22"/>
          <p:cNvSpPr/>
          <p:nvPr/>
        </p:nvSpPr>
        <p:spPr>
          <a:xfrm>
            <a:off x="792785" y="5340096"/>
            <a:ext cx="2423160" cy="146304"/>
          </a:xfrm>
          <a:prstGeom prst="rect">
            <a:avLst/>
          </a:prstGeom>
          <a:solidFill>
            <a:srgbClr val="6B55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0801" y="51755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0801" y="555955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pet_id   FK  member_id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920801" y="572871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pet_name · breed · birth_date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20801" y="589788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sort_order · version · deleted_at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349026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85C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오픈채팅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9026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9026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32" name="Shape 30"/>
          <p:cNvSpPr/>
          <p:nvPr/>
        </p:nvSpPr>
        <p:spPr>
          <a:xfrm>
            <a:off x="3490265" y="2011680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61828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61828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room_id   FK  member_id (방장)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61828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pinned_message_id (공지 핀)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61828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room_name · category · max_members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490265" y="3511296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490265" y="3511296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39" name="Shape 37"/>
          <p:cNvSpPr/>
          <p:nvPr/>
        </p:nvSpPr>
        <p:spPr>
          <a:xfrm>
            <a:off x="3490265" y="3675888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8281" y="351129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chat_room_member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618281" y="389534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room_id · member_id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3618281" y="406450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 3종 · version · pinned_at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3618281" y="423367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last_read_message_id · left_at/reason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490265" y="5175504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490265" y="5175504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B85C3C"/>
          </a:solidFill>
          <a:ln/>
        </p:spPr>
      </p:sp>
      <p:sp>
        <p:nvSpPr>
          <p:cNvPr id="46" name="Shape 44"/>
          <p:cNvSpPr/>
          <p:nvPr/>
        </p:nvSpPr>
        <p:spPr>
          <a:xfrm>
            <a:off x="3490265" y="5340096"/>
            <a:ext cx="2423160" cy="146304"/>
          </a:xfrm>
          <a:prstGeom prst="rect">
            <a:avLst/>
          </a:prstGeom>
          <a:solidFill>
            <a:srgbClr val="B85C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18281" y="51755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chat_message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618281" y="555955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message_id   FK  room_id · sender_id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3618281" y="572871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content(1000) XOR image_url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3618281" y="589788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append-only (수정·삭제 없음)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618774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숏츠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18774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8774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54" name="Shape 52"/>
          <p:cNvSpPr/>
          <p:nvPr/>
        </p:nvSpPr>
        <p:spPr>
          <a:xfrm>
            <a:off x="6187745" y="2011680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31576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31576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member_id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631576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video/thumbnail_url · tags[] · caption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631576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편집(trim·crop·music) · 카운터 3종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2956530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187745" y="295653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61" name="Shape 59"/>
          <p:cNvSpPr/>
          <p:nvPr/>
        </p:nvSpPr>
        <p:spPr>
          <a:xfrm>
            <a:off x="6187745" y="3121122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315761" y="295653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shorts_like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6315761" y="334057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 · member_id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6315761" y="350974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created_at</a:t>
            </a:r>
            <a:endParaRPr lang="en-US" sz="750" dirty="0"/>
          </a:p>
        </p:txBody>
      </p:sp>
      <p:sp>
        <p:nvSpPr>
          <p:cNvPr id="65" name="Text 63"/>
          <p:cNvSpPr txBox="1"/>
          <p:nvPr/>
        </p:nvSpPr>
        <p:spPr>
          <a:xfrm>
            <a:off x="6315761" y="367890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회원당 숏츠 1개 1회 (유니크)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187745" y="4065971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187745" y="4065971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87745" y="4230563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315761" y="4065971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</a:t>
            </a:r>
            <a:endParaRPr lang="en-US" sz="950" dirty="0"/>
          </a:p>
        </p:txBody>
      </p:sp>
      <p:sp>
        <p:nvSpPr>
          <p:cNvPr id="70" name="Text 68"/>
          <p:cNvSpPr txBox="1"/>
          <p:nvPr/>
        </p:nvSpPr>
        <p:spPr>
          <a:xfrm>
            <a:off x="6315761" y="445001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 · member_id</a:t>
            </a:r>
            <a:endParaRPr lang="en-US" sz="750" dirty="0"/>
          </a:p>
        </p:txBody>
      </p:sp>
      <p:sp>
        <p:nvSpPr>
          <p:cNvPr id="71" name="Text 69"/>
          <p:cNvSpPr txBox="1"/>
          <p:nvPr/>
        </p:nvSpPr>
        <p:spPr>
          <a:xfrm>
            <a:off x="6315761" y="4619183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parent_id (대댓글 자기참조)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6315761" y="4788347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 · like_count · deleted_at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6187745" y="5175413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6187745" y="5175413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EF7D66"/>
          </a:solidFill>
          <a:ln/>
        </p:spPr>
      </p:sp>
      <p:sp>
        <p:nvSpPr>
          <p:cNvPr id="75" name="Shape 73"/>
          <p:cNvSpPr/>
          <p:nvPr/>
        </p:nvSpPr>
        <p:spPr>
          <a:xfrm>
            <a:off x="6187745" y="5340005"/>
            <a:ext cx="2423160" cy="146304"/>
          </a:xfrm>
          <a:prstGeom prst="rect">
            <a:avLst/>
          </a:prstGeom>
          <a:solidFill>
            <a:srgbClr val="EF7D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315761" y="5175413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shorts_comment_like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6315761" y="5559461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comment_id · member_id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6315761" y="5728625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created_at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6315761" y="589778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회원당 댓글 1개 1회 (유니크)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885225" y="16093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산책 · 광고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8885225" y="1847088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8885225" y="1847088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5225" y="2011680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13241" y="184708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shorts_event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9013241" y="22311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short_id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9013241" y="240030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 member_id (비로그인 NULL)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9013241" y="2569464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· watch_ms → 추천 입력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885225" y="2956530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8885225" y="295653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90" name="Shape 88"/>
          <p:cNvSpPr/>
          <p:nvPr/>
        </p:nvSpPr>
        <p:spPr>
          <a:xfrm>
            <a:off x="8885225" y="3121122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013241" y="295653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walk_record</a:t>
            </a:r>
            <a:endParaRPr lang="en-US" sz="950" dirty="0"/>
          </a:p>
        </p:txBody>
      </p:sp>
      <p:sp>
        <p:nvSpPr>
          <p:cNvPr id="92" name="Text 90"/>
          <p:cNvSpPr txBox="1"/>
          <p:nvPr/>
        </p:nvSpPr>
        <p:spPr>
          <a:xfrm>
            <a:off x="9013241" y="334057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pet_id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9013241" y="3509742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started/ended_at · duration_seconds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9013241" y="367890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distance · path(jsonb) · 기온/노면온도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885225" y="4065971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8885225" y="4065971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97" name="Shape 95"/>
          <p:cNvSpPr/>
          <p:nvPr/>
        </p:nvSpPr>
        <p:spPr>
          <a:xfrm>
            <a:off x="8885225" y="4230563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9013241" y="4065971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walk_briefing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9013241" y="445001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   FK  pet_id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9013241" y="4619183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lat·lng · air/asphalt_temp · 습도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9013241" y="4788347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risk_level · notify · reason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8885225" y="5175413"/>
            <a:ext cx="2423160" cy="969264"/>
          </a:xfrm>
          <a:prstGeom prst="roundRect">
            <a:avLst>
              <a:gd name="adj" fmla="val 754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8885225" y="5175413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D89A45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885225" y="5340005"/>
            <a:ext cx="2423160" cy="146304"/>
          </a:xfrm>
          <a:prstGeom prst="rect">
            <a:avLst/>
          </a:prstGeom>
          <a:solidFill>
            <a:srgbClr val="D89A4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013241" y="5175413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advertisements</a:t>
            </a:r>
            <a:endParaRPr lang="en-US" sz="950" dirty="0"/>
          </a:p>
        </p:txBody>
      </p:sp>
      <p:sp>
        <p:nvSpPr>
          <p:cNvPr id="106" name="Text 104"/>
          <p:cNvSpPr txBox="1"/>
          <p:nvPr/>
        </p:nvSpPr>
        <p:spPr>
          <a:xfrm>
            <a:off x="9013241" y="5559461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 id</a:t>
            </a:r>
            <a:endParaRPr lang="en-US" sz="750" dirty="0"/>
          </a:p>
        </p:txBody>
      </p:sp>
      <p:sp>
        <p:nvSpPr>
          <p:cNvPr id="107" name="Text 105"/>
          <p:cNvSpPr txBox="1"/>
          <p:nvPr/>
        </p:nvSpPr>
        <p:spPr>
          <a:xfrm>
            <a:off x="9013241" y="5728625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title · image_url · link_url</a:t>
            </a:r>
            <a:endParaRPr lang="en-US" sz="750" dirty="0"/>
          </a:p>
        </p:txBody>
      </p:sp>
      <p:sp>
        <p:nvSpPr>
          <p:cNvPr id="108" name="Text 106"/>
          <p:cNvSpPr txBox="1"/>
          <p:nvPr/>
        </p:nvSpPr>
        <p:spPr>
          <a:xfrm>
            <a:off x="9013241" y="5897789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placement · priority · 노출 기간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792785" y="6309360"/>
            <a:ext cx="10607040" cy="292608"/>
          </a:xfrm>
          <a:prstGeom prst="roundRect">
            <a:avLst>
              <a:gd name="adj" fmla="val 25000"/>
            </a:avLst>
          </a:prstGeom>
          <a:solidFill>
            <a:srgbClr val="F6EAD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5665" y="630936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40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기본키 · FK 외래키(→ 참조 테이블)   |   회원·펫·채팅방·댓글은 soft delete(deleted_at)   |   pet·chat_room_member는 version 컬럼으로 낙관적 락</a:t>
            </a:r>
            <a:endParaRPr lang="en-US" sz="900" dirty="0"/>
          </a:p>
        </p:txBody>
      </p:sp>
      <p:sp>
        <p:nvSpPr>
          <p:cNvPr id="111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아키텍처 (EC2)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2785" y="1371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Actions로 main push 자동 배포 — EC2 초기 구성은 자체 완결형 스크립트 한 번으로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2785" y="1965960"/>
            <a:ext cx="6949440" cy="4069080"/>
          </a:xfrm>
          <a:prstGeom prst="roundRect">
            <a:avLst>
              <a:gd name="adj" fmla="val 3596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67105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인스턴스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27825" y="2084832"/>
            <a:ext cx="640080" cy="640080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047" y="2264054"/>
            <a:ext cx="281635" cy="28163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67105" y="2606040"/>
            <a:ext cx="6355080" cy="914400"/>
          </a:xfrm>
          <a:prstGeom prst="roundRect">
            <a:avLst>
              <a:gd name="adj" fmla="val 12000"/>
            </a:avLst>
          </a:prstGeom>
          <a:solidFill>
            <a:srgbClr val="FFFDFA"/>
          </a:solidFill>
          <a:ln/>
        </p:spPr>
      </p:sp>
      <p:sp>
        <p:nvSpPr>
          <p:cNvPr id="12" name="Shape 9"/>
          <p:cNvSpPr/>
          <p:nvPr/>
        </p:nvSpPr>
        <p:spPr>
          <a:xfrm>
            <a:off x="1249985" y="2788920"/>
            <a:ext cx="548640" cy="548640"/>
          </a:xfrm>
          <a:prstGeom prst="ellipse">
            <a:avLst/>
          </a:prstGeom>
          <a:solidFill>
            <a:srgbClr val="3A2E2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604" y="294253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35785" y="26974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— 단일 오리진 (443/HTTPS)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935785" y="29992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→ Vite dist 정적  ·  /api → 8080  ·  /ws → WebSocket 업그레이드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67105" y="370332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FFFDFA"/>
          </a:solidFill>
          <a:ln/>
        </p:spPr>
      </p:sp>
      <p:sp>
        <p:nvSpPr>
          <p:cNvPr id="17" name="Shape 13"/>
          <p:cNvSpPr/>
          <p:nvPr/>
        </p:nvSpPr>
        <p:spPr>
          <a:xfrm>
            <a:off x="1249985" y="3886200"/>
            <a:ext cx="530352" cy="530352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483" y="4034699"/>
            <a:ext cx="233355" cy="23335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890065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(systemd)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890065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:8080 도메인 API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58945" y="370332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3A2E26"/>
          </a:solidFill>
          <a:ln/>
        </p:spPr>
      </p:sp>
      <p:sp>
        <p:nvSpPr>
          <p:cNvPr id="22" name="Shape 17"/>
          <p:cNvSpPr/>
          <p:nvPr/>
        </p:nvSpPr>
        <p:spPr>
          <a:xfrm>
            <a:off x="4541825" y="3886200"/>
            <a:ext cx="530352" cy="530352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323" y="4034699"/>
            <a:ext cx="233355" cy="23335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181905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(Google Colab)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181905" y="4096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런타임 — EC2 외부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1067105" y="4846320"/>
            <a:ext cx="6355080" cy="960120"/>
          </a:xfrm>
          <a:prstGeom prst="roundRect">
            <a:avLst>
              <a:gd name="adj" fmla="val 11429"/>
            </a:avLst>
          </a:prstGeom>
          <a:solidFill>
            <a:srgbClr val="3A2E26"/>
          </a:solidFill>
          <a:ln/>
        </p:spPr>
      </p:sp>
      <p:sp>
        <p:nvSpPr>
          <p:cNvPr id="27" name="Shape 21"/>
          <p:cNvSpPr/>
          <p:nvPr/>
        </p:nvSpPr>
        <p:spPr>
          <a:xfrm>
            <a:off x="1249985" y="5029200"/>
            <a:ext cx="548640" cy="548640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3604" y="5182819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935785" y="49560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(외부 관리형)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1935785" y="52486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Storage — 트랜잭션 풀러 6543 · HikariCP 5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879385" y="19659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107985" y="2167128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6483" y="2315627"/>
            <a:ext cx="233355" cy="23335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793785" y="216712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CI/CD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8107985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ci.yml(검증) + deploy.yml(</a:t>
            </a: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main push 시 자동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7879385" y="3355848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8107985" y="3557016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6483" y="3705515"/>
            <a:ext cx="233355" cy="233355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793785" y="35570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셋업 스크립트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8107985" y="41788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Java·nginx·certbot·systemd·HTTPS까지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</a:t>
            </a: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 (멱등 실행)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879385" y="4745736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8107985" y="4946904"/>
            <a:ext cx="530352" cy="530352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56483" y="5095403"/>
            <a:ext cx="233355" cy="23335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793785" y="494690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한도 정렬</a:t>
            </a:r>
            <a:endParaRPr lang="en-US" sz="1300" dirty="0"/>
          </a:p>
        </p:txBody>
      </p:sp>
      <p:sp>
        <p:nvSpPr>
          <p:cNvPr id="45" name="Text 35"/>
          <p:cNvSpPr txBox="1"/>
          <p:nvPr/>
        </p:nvSpPr>
        <p:spPr>
          <a:xfrm>
            <a:off x="8107985" y="55686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60MB ↔ 백엔드 multipart 60MB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413 함정 차단</a:t>
            </a:r>
            <a:endParaRPr lang="en-US" sz="1050" dirty="0"/>
          </a:p>
        </p:txBody>
      </p:sp>
      <p:sp>
        <p:nvSpPr>
          <p:cNvPr id="4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2785" y="457200"/>
            <a:ext cx="420624" cy="256032"/>
          </a:xfrm>
          <a:prstGeom prst="roundRect">
            <a:avLst>
              <a:gd name="adj" fmla="val 32143"/>
            </a:avLst>
          </a:prstGeom>
          <a:solidFill>
            <a:srgbClr val="EF7D6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92785" y="45720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3137" y="457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25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NOTES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92785" y="713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엔지니어링 의사결정 — 실전에서 배운 것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92785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7105" y="1737360"/>
            <a:ext cx="603504" cy="603504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086" y="1906341"/>
            <a:ext cx="265542" cy="2655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85393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WebSocket이 조용히 죽는다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85393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CORS에만 LAN 오리진을 추가하고 STOMP 오리진을 빠뜨려 "새로고침해야 보이는"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→ 같은 프로퍼티로 단일화.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2097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6417" y="1737360"/>
            <a:ext cx="603504" cy="603504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398" y="1906341"/>
            <a:ext cx="265542" cy="2655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24705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mock ↔ 실연동 경계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24705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질병예측 스키마 미확정 → DiseasePredictionClient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추상화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mock·FastAPI 구현체를 자유 교체.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71409" y="1481328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FFDFA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45729" y="1737360"/>
            <a:ext cx="603504" cy="603504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4710" y="1906341"/>
            <a:ext cx="265542" cy="2655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4017" y="2450592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입력을 믿지 않는다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64017" y="2926080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챗봇이 만든 pet_id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요청의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petId로만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잘못된 대상 조회·권한 우회 차단.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92785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067105" y="4087368"/>
            <a:ext cx="603504" cy="603504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086" y="4256349"/>
            <a:ext cx="265542" cy="2655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85393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미설정도 기동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085393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없이도 컨텍스트가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뜨도록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기본값 + 경고 로그.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도메인 예외로 실패.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32097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706417" y="4087368"/>
            <a:ext cx="603504" cy="603504"/>
          </a:xfrm>
          <a:prstGeom prst="ellipse">
            <a:avLst/>
          </a:prstGeom>
          <a:solidFill>
            <a:srgbClr val="6B5545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5398" y="4256349"/>
            <a:ext cx="265542" cy="2655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724705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번들 분리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724705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지도·숏츠·진단 등 무거운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로드로 분리 — 첫 진입 속도 확보.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071409" y="3831336"/>
            <a:ext cx="3310128" cy="2148840"/>
          </a:xfrm>
          <a:prstGeom prst="roundRect">
            <a:avLst>
              <a:gd name="adj" fmla="val 5957"/>
            </a:avLst>
          </a:prstGeom>
          <a:solidFill>
            <a:srgbClr val="F6EADC"/>
          </a:solidFill>
          <a:ln/>
          <a:effectLst>
            <a:outerShdw blurRad="101600" dist="38100" dir="5400000" algn="bl" rotWithShape="0">
              <a:srgbClr val="6B4A2F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45729" y="4087368"/>
            <a:ext cx="603504" cy="603504"/>
          </a:xfrm>
          <a:prstGeom prst="ellipse">
            <a:avLst/>
          </a:prstGeom>
          <a:solidFill>
            <a:srgbClr val="B85C3C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4710" y="4256349"/>
            <a:ext cx="265542" cy="2655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364017" y="4800600"/>
            <a:ext cx="2807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A2E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오리진 = 보안+단순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8364017" y="5276088"/>
            <a:ext cx="2807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CORS 제거 + SameSite=Strict 유지.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분리 시 사라지는 CSRF </a:t>
            </a:r>
            <a:r>
              <a:rPr lang="en-US" sz="1100" dirty="0" err="1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</a:t>
            </a:r>
            <a:r>
              <a:rPr lang="en-US" sz="110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지킨다.</a:t>
            </a:r>
            <a:endParaRPr lang="en-US" sz="1100" dirty="0"/>
          </a:p>
        </p:txBody>
      </p:sp>
      <p:sp>
        <p:nvSpPr>
          <p:cNvPr id="36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48088" y="5303520"/>
            <a:ext cx="1371600" cy="13716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 &amp; 향후 과제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89A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해낸 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6112" y="21488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2261494"/>
            <a:ext cx="177028" cy="1770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1305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서버(React·Spring·FastAPI) 통합 아키텍처 완성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96112" y="28346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2947294"/>
            <a:ext cx="177028" cy="1770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8163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25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</a:t>
            </a:r>
            <a:r>
              <a:rPr lang="en-US" sz="125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채팅·숏츠 제작 플로우 등 복합 기능 구현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96112" y="35204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3633094"/>
            <a:ext cx="177028" cy="1770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021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이미지·하이브리드 두 갈래 AI 진단 파이프라인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96112" y="42062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4318894"/>
            <a:ext cx="177028" cy="1770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187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calling 챗봇 + MCP 외부 확장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896112" y="4892040"/>
            <a:ext cx="402336" cy="402336"/>
          </a:xfrm>
          <a:prstGeom prst="ellipse">
            <a:avLst/>
          </a:prstGeom>
          <a:solidFill>
            <a:srgbClr val="D89A45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6" y="5004694"/>
            <a:ext cx="177028" cy="17702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2E6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단일 오리진 배포 자동화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658368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611112" y="21488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2261494"/>
            <a:ext cx="177028" cy="17702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32320" y="2130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챗봇·MCP 질병예측 도구 mock → 실제 진단 결과 연동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6611112" y="28346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2947294"/>
            <a:ext cx="177028" cy="1770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132320" y="28163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→ RAG </a:t>
            </a:r>
            <a:r>
              <a:rPr lang="ko-KR" alt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250" dirty="0"/>
          </a:p>
        </p:txBody>
      </p:sp>
      <p:sp>
        <p:nvSpPr>
          <p:cNvPr id="28" name="Shape 19"/>
          <p:cNvSpPr/>
          <p:nvPr/>
        </p:nvSpPr>
        <p:spPr>
          <a:xfrm>
            <a:off x="6611112" y="35204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3633094"/>
            <a:ext cx="177028" cy="177028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132320" y="3502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다중 인스턴스(브로커 외부화) 확장</a:t>
            </a:r>
            <a:endParaRPr lang="en-US" sz="1250" dirty="0"/>
          </a:p>
        </p:txBody>
      </p:sp>
      <p:sp>
        <p:nvSpPr>
          <p:cNvPr id="31" name="Shape 21"/>
          <p:cNvSpPr/>
          <p:nvPr/>
        </p:nvSpPr>
        <p:spPr>
          <a:xfrm>
            <a:off x="6611112" y="42062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4318894"/>
            <a:ext cx="177028" cy="17702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7132320" y="4187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 측정기기 연동(디바이스 도메인) — 이번 범위 제외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6611112" y="4892040"/>
            <a:ext cx="402336" cy="402336"/>
          </a:xfrm>
          <a:prstGeom prst="ellipse">
            <a:avLst/>
          </a:prstGeom>
          <a:solidFill>
            <a:srgbClr val="EF7D66"/>
          </a:solidFill>
          <a:ln/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66" y="5004694"/>
            <a:ext cx="177028" cy="177028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7132320" y="48737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250" dirty="0">
                <a:solidFill>
                  <a:srgbClr val="FFEDE7"/>
                </a:solidFill>
                <a:latin typeface="Malgun Gothic" pitchFamily="34" charset="0"/>
                <a:ea typeface="Malgun Gothic" pitchFamily="34" charset="-122"/>
              </a:rPr>
              <a:t>어플리케이션 전환</a:t>
            </a:r>
            <a:endParaRPr lang="en-US" sz="1250" dirty="0"/>
          </a:p>
        </p:txBody>
      </p:sp>
      <p:sp>
        <p:nvSpPr>
          <p:cNvPr id="37" name="PageNum"/>
          <p:cNvSpPr txBox="1"/>
          <p:nvPr/>
        </p:nvSpPr>
        <p:spPr>
          <a:xfrm>
            <a:off x="10484815" y="457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0" dirty="0">
                <a:solidFill>
                  <a:srgbClr val="9A8D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A2E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4968" y="640080"/>
            <a:ext cx="3657600" cy="3657600"/>
          </a:xfrm>
          <a:prstGeom prst="ellipse">
            <a:avLst/>
          </a:prstGeom>
          <a:solidFill>
            <a:srgbClr val="4E3E33"/>
          </a:solidFill>
          <a:ln/>
        </p:spPr>
      </p:sp>
      <p:sp>
        <p:nvSpPr>
          <p:cNvPr id="3" name="Shape 1"/>
          <p:cNvSpPr/>
          <p:nvPr/>
        </p:nvSpPr>
        <p:spPr>
          <a:xfrm>
            <a:off x="9116568" y="4846320"/>
            <a:ext cx="1371600" cy="1371600"/>
          </a:xfrm>
          <a:prstGeom prst="ellipse">
            <a:avLst/>
          </a:prstGeom>
          <a:solidFill>
            <a:srgbClr val="6B5545">
              <a:alpha val="4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FFF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FE0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댕댕댕 — 반려동물의 건강과 일상을 잇는 통합 케어 플랫폼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937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F7D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38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 · Supabase · EC2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2975</Words>
  <Application>Microsoft Office PowerPoint</Application>
  <PresentationFormat>와이드스크린</PresentationFormat>
  <Paragraphs>577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댕댕댕 프로젝트 기술 리뷰</dc:title>
  <dc:subject>PptxGenJS Presentation</dc:subject>
  <dc:creator>댕댕댕 팀</dc:creator>
  <cp:lastModifiedBy>현서 김</cp:lastModifiedBy>
  <cp:revision>16</cp:revision>
  <dcterms:created xsi:type="dcterms:W3CDTF">2026-09-01T08:04:28Z</dcterms:created>
  <dcterms:modified xsi:type="dcterms:W3CDTF">2026-09-02T07:48:40Z</dcterms:modified>
</cp:coreProperties>
</file>