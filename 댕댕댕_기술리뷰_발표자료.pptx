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댕댕댕은 원래 생체데이터 기반 질병예측 웹서비스로 기획했지만, 실제로는 숏츠·실시간 채팅·AI 진단·챗봇·MCP까지 아우르는 통합 반려동물 케어 플랫폼으로 구현됐습니다. 오늘은 기술 리뷰 관점에서 아키텍처와 구현 디테일을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3200400" cy="3200400"/>
          </a:xfrm>
          <a:prstGeom prst="ellipse">
            <a:avLst/>
          </a:prstGeom>
          <a:solidFill>
            <a:srgbClr val="4E3E33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754880"/>
            <a:ext cx="1463040" cy="1463040"/>
          </a:xfrm>
          <a:prstGeom prst="ellipse">
            <a:avLst/>
          </a:prstGeom>
          <a:solidFill>
            <a:srgbClr val="6B5545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011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7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기술 리뷰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댕댕댕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통합 케어 플랫폼 — 숏츠 · 오픈채팅 · AI 질병 진단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425196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4E3E33"/>
          </a:solidFill>
          <a:ln w="12700">
            <a:solidFill>
              <a:srgbClr val="6B5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25196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58568" y="4251960"/>
            <a:ext cx="1897380" cy="457200"/>
          </a:xfrm>
          <a:prstGeom prst="roundRect">
            <a:avLst>
              <a:gd name="adj" fmla="val 50000"/>
            </a:avLst>
          </a:prstGeom>
          <a:solidFill>
            <a:srgbClr val="4E3E33"/>
          </a:solidFill>
          <a:ln w="12700">
            <a:solidFill>
              <a:srgbClr val="6B55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58568" y="4251960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4548" y="4251960"/>
            <a:ext cx="2107692" cy="457200"/>
          </a:xfrm>
          <a:prstGeom prst="roundRect">
            <a:avLst>
              <a:gd name="adj" fmla="val 50000"/>
            </a:avLst>
          </a:prstGeom>
          <a:solidFill>
            <a:srgbClr val="4E3E33"/>
          </a:solidFill>
          <a:ln w="12700">
            <a:solidFill>
              <a:srgbClr val="6B5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4548" y="4251960"/>
            <a:ext cx="2107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PyTorch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20840" y="425196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4E3E33"/>
          </a:solidFill>
          <a:ln w="12700">
            <a:solidFill>
              <a:srgbClr val="6B55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42519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· EC2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8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04672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57800" cy="13716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67128"/>
            <a:ext cx="621792" cy="621792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094" y="2341230"/>
            <a:ext cx="273588" cy="2735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74920" y="19476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0939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규모 · 아키텍처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496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만들었고 어떤 구조인가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5257800" cy="13716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93992" y="2167128"/>
            <a:ext cx="621792" cy="621792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94" y="2341230"/>
            <a:ext cx="273588" cy="2735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789920" y="19476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20939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&amp; 보안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7589520" y="2496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OAuth · JWT 회전 · 단일 오리진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3319272"/>
            <a:ext cx="5257800" cy="13716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78992" y="3703320"/>
            <a:ext cx="621792" cy="621792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94" y="3877422"/>
            <a:ext cx="273588" cy="2735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74920" y="34838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3630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4032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숏츠 · 오픈채팅 · 부가 서비스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37960" y="3319272"/>
            <a:ext cx="5257800" cy="13716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93992" y="3703320"/>
            <a:ext cx="621792" cy="621792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094" y="3877422"/>
            <a:ext cx="273588" cy="2735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89920" y="34838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7589520" y="3630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질병 진단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4032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진단 · 하이브리드 위험도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22960" y="4855464"/>
            <a:ext cx="5257800" cy="13716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78992" y="5239512"/>
            <a:ext cx="621792" cy="621792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94" y="5413614"/>
            <a:ext cx="273588" cy="2735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74920" y="50200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1874520" y="5166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&amp; MCP</a:t>
            </a:r>
            <a:endParaRPr lang="en-US" sz="1650" dirty="0"/>
          </a:p>
        </p:txBody>
      </p:sp>
      <p:sp>
        <p:nvSpPr>
          <p:cNvPr id="33" name="Text 26"/>
          <p:cNvSpPr txBox="1"/>
          <p:nvPr/>
        </p:nvSpPr>
        <p:spPr>
          <a:xfrm>
            <a:off x="1874520" y="5568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 · 외부 AI 호스트 확장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537960" y="4855464"/>
            <a:ext cx="5257800" cy="13716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793992" y="5239512"/>
            <a:ext cx="621792" cy="621792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094" y="5413614"/>
            <a:ext cx="273588" cy="2735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789920" y="50200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0E3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7589520" y="5166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회고</a:t>
            </a:r>
            <a:endParaRPr lang="en-US" sz="1650" dirty="0"/>
          </a:p>
        </p:txBody>
      </p:sp>
      <p:sp>
        <p:nvSpPr>
          <p:cNvPr id="39" name="Text 31"/>
          <p:cNvSpPr txBox="1"/>
          <p:nvPr/>
        </p:nvSpPr>
        <p:spPr>
          <a:xfrm>
            <a:off x="7589520" y="5568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배포 · 엔지니어링 의사결정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반려동물의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데이터와 일상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곳에서 — 숏츠로 소통하고, AI가 이상 징후를 진단하고, 챗봇이 병원까지 안내하는 모바일 퍼스트 웹 플랫폼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88720" y="2286000"/>
            <a:ext cx="3310128" cy="1965960"/>
          </a:xfrm>
          <a:prstGeom prst="roundRect">
            <a:avLst>
              <a:gd name="adj" fmla="val 651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99616" y="2578608"/>
            <a:ext cx="713232" cy="713232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321" y="2778313"/>
            <a:ext cx="313822" cy="31382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99616" y="34015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숏츠 (릴스)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499616" y="3767328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촬영→편집→발행 4단계 플로우, 세로 스냅 피드, 좋아요·댓글, 추천 알고리즘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28032" y="2286000"/>
            <a:ext cx="3310128" cy="1965960"/>
          </a:xfrm>
          <a:prstGeom prst="roundRect">
            <a:avLst>
              <a:gd name="adj" fmla="val 651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38928" y="2578608"/>
            <a:ext cx="713232" cy="713232"/>
          </a:xfrm>
          <a:prstGeom prst="ellipse">
            <a:avLst/>
          </a:prstGeom>
          <a:solidFill>
            <a:srgbClr val="B85C3C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633" y="2778313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38928" y="34015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오픈채팅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138928" y="3767328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 over WebSocket 실시간 채팅, 방 개설·역할·강퇴·고정·이미지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467344" y="2286000"/>
            <a:ext cx="3310128" cy="1965960"/>
          </a:xfrm>
          <a:prstGeom prst="roundRect">
            <a:avLst>
              <a:gd name="adj" fmla="val 651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78240" y="2578608"/>
            <a:ext cx="713232" cy="713232"/>
          </a:xfrm>
          <a:prstGeom prst="ellipse">
            <a:avLst/>
          </a:prstGeom>
          <a:solidFill>
            <a:srgbClr val="EF7D66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945" y="2778313"/>
            <a:ext cx="313822" cy="31382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78240" y="34015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질병 진단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778240" y="3767328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피부질환 이미지 진단(EfficientNet) + 수치·문진 하이브리드 위험도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188720" y="4507992"/>
            <a:ext cx="3310128" cy="1965960"/>
          </a:xfrm>
          <a:prstGeom prst="roundRect">
            <a:avLst>
              <a:gd name="adj" fmla="val 651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499616" y="4800600"/>
            <a:ext cx="713232" cy="713232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321" y="5000305"/>
            <a:ext cx="313822" cy="31382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99616" y="56235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1499616" y="598932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function calling으로 진단 조회 + 주변 병원 추천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828032" y="4507992"/>
            <a:ext cx="3310128" cy="1965960"/>
          </a:xfrm>
          <a:prstGeom prst="roundRect">
            <a:avLst>
              <a:gd name="adj" fmla="val 651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138928" y="4800600"/>
            <a:ext cx="713232" cy="713232"/>
          </a:xfrm>
          <a:prstGeom prst="ellipse">
            <a:avLst/>
          </a:prstGeom>
          <a:solidFill>
            <a:srgbClr val="B85C3C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8633" y="5000305"/>
            <a:ext cx="313822" cy="31382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38928" y="56235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산책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5138928" y="598932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주변 병원/카페 검색, 산책 트래킹·아스팔트 온도 경고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467344" y="4507992"/>
            <a:ext cx="3310128" cy="1965960"/>
          </a:xfrm>
          <a:prstGeom prst="roundRect">
            <a:avLst>
              <a:gd name="adj" fmla="val 651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778240" y="4800600"/>
            <a:ext cx="713232" cy="713232"/>
          </a:xfrm>
          <a:prstGeom prst="ellipse">
            <a:avLst/>
          </a:prstGeom>
          <a:solidFill>
            <a:srgbClr val="EF7D66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945" y="5000305"/>
            <a:ext cx="313822" cy="31382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778240" y="56235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8778240" y="598932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도구를 외부 AI 호스트(Claude Desktop 등)로 재노출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COLLABORATION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규모 &amp; 팀 협업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554480"/>
            <a:ext cx="2432304" cy="1874520"/>
          </a:xfrm>
          <a:prstGeom prst="roundRect">
            <a:avLst>
              <a:gd name="adj" fmla="val 6829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828800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068" y="1987540"/>
            <a:ext cx="249448" cy="2494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24231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32K+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1499616" y="30358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 라인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13632" y="1554480"/>
            <a:ext cx="2432304" cy="1874520"/>
          </a:xfrm>
          <a:prstGeom prst="roundRect">
            <a:avLst>
              <a:gd name="adj" fmla="val 6829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828800"/>
            <a:ext cx="566928" cy="566928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980" y="1987540"/>
            <a:ext cx="249448" cy="2494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05072" y="24231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5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300+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224528" y="30358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파일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38544" y="1554480"/>
            <a:ext cx="2432304" cy="1874520"/>
          </a:xfrm>
          <a:prstGeom prst="roundRect">
            <a:avLst>
              <a:gd name="adj" fmla="val 6829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31152" y="18288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892" y="1987540"/>
            <a:ext cx="249448" cy="2494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29984" y="24231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7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218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30358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커밋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363456" y="1554480"/>
            <a:ext cx="2432304" cy="1874520"/>
          </a:xfrm>
          <a:prstGeom prst="roundRect">
            <a:avLst>
              <a:gd name="adj" fmla="val 6829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656064" y="1828800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4804" y="1987540"/>
            <a:ext cx="249448" cy="2494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54896" y="24231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Text 19"/>
          <p:cNvSpPr txBox="1"/>
          <p:nvPr/>
        </p:nvSpPr>
        <p:spPr>
          <a:xfrm>
            <a:off x="9674352" y="30358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서버 (Spring·FastAPI·React)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1188720" y="3703320"/>
            <a:ext cx="10607040" cy="2331720"/>
          </a:xfrm>
          <a:prstGeom prst="roundRect">
            <a:avLst>
              <a:gd name="adj" fmla="val 5490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14630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서비스별 구성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46304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pet_backend (Spring Boot · Java 21)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5394960" y="4315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 파일 · 약 12.5K LOC — 도메인 API, 인증, 채팅, 챗봇, MCP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10241280" y="443484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0E3D2"/>
          </a:solidFill>
          <a:ln/>
        </p:spPr>
      </p:sp>
      <p:sp>
        <p:nvSpPr>
          <p:cNvPr id="31" name="Shape 25"/>
          <p:cNvSpPr/>
          <p:nvPr/>
        </p:nvSpPr>
        <p:spPr>
          <a:xfrm>
            <a:off x="10241280" y="4434840"/>
            <a:ext cx="477317" cy="219456"/>
          </a:xfrm>
          <a:prstGeom prst="roundRect">
            <a:avLst>
              <a:gd name="adj" fmla="val 50000"/>
            </a:avLst>
          </a:prstGeom>
          <a:solidFill>
            <a:srgbClr val="6B554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463040" y="4864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pet_frontend (React 19 · Vite 8)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5394960" y="4864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 파일 · 약 19K LOC — 모바일 퍼스트 SPA, 숏츠 제작 플로우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10241280" y="498348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0E3D2"/>
          </a:solidFill>
          <a:ln/>
        </p:spPr>
      </p:sp>
      <p:sp>
        <p:nvSpPr>
          <p:cNvPr id="35" name="Shape 29"/>
          <p:cNvSpPr/>
          <p:nvPr/>
        </p:nvSpPr>
        <p:spPr>
          <a:xfrm>
            <a:off x="10241280" y="4983480"/>
            <a:ext cx="674827" cy="219456"/>
          </a:xfrm>
          <a:prstGeom prst="roundRect">
            <a:avLst>
              <a:gd name="adj" fmla="val 50000"/>
            </a:avLst>
          </a:prstGeom>
          <a:solidFill>
            <a:srgbClr val="B85C3C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1463040" y="5413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pet_model (FastAPI · PyTorch)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5394960" y="5413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파일 · 약 0.5K LOC — EfficientNet 진단, 하이브리드 위험도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241280" y="553212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0E3D2"/>
          </a:solidFill>
          <a:ln/>
        </p:spPr>
      </p:sp>
      <p:sp>
        <p:nvSpPr>
          <p:cNvPr id="39" name="Shape 33"/>
          <p:cNvSpPr/>
          <p:nvPr/>
        </p:nvSpPr>
        <p:spPr>
          <a:xfrm>
            <a:off x="10241280" y="5532120"/>
            <a:ext cx="197510" cy="219456"/>
          </a:xfrm>
          <a:prstGeom prst="roundRect">
            <a:avLst>
              <a:gd name="adj" fmla="val 55556"/>
            </a:avLst>
          </a:prstGeom>
          <a:solidFill>
            <a:srgbClr val="EF7D6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&amp; OWNERSHIP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&amp; 역할 분담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커밋·Pull Request 이력 기준 — 네 명이 도메인별로 나눠 맡고 PR 리뷰로 통합했습니다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828800"/>
            <a:ext cx="2432304" cy="3383280"/>
          </a:xfrm>
          <a:prstGeom prst="roundRect">
            <a:avLst>
              <a:gd name="adj" fmla="val 526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066544"/>
            <a:ext cx="640080" cy="640080"/>
          </a:xfrm>
          <a:prstGeom prst="ellipse">
            <a:avLst/>
          </a:prstGeom>
          <a:solidFill>
            <a:srgbClr val="EF7D66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262" y="2245766"/>
            <a:ext cx="281635" cy="2816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79806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송태현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3145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Taehyun-0502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38328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 커밋 · PR 25건 머지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481328" y="3739896"/>
            <a:ext cx="100584" cy="100584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700784" y="3675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회원·인증 (카카오 OAuth·JWT)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481328" y="4123944"/>
            <a:ext cx="100584" cy="100584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700784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오픈채팅 (STOMP·권한·강퇴)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481328" y="4507992"/>
            <a:ext cx="100584" cy="100584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700784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펫·홈 · 공통/보안 레이어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481328" y="4892040"/>
            <a:ext cx="100584" cy="100584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700784" y="4828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통합 · PR 리뷰/머지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913632" y="1828800"/>
            <a:ext cx="2432304" cy="3383280"/>
          </a:xfrm>
          <a:prstGeom prst="roundRect">
            <a:avLst>
              <a:gd name="adj" fmla="val 526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87952" y="2066544"/>
            <a:ext cx="640080" cy="640080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174" y="2245766"/>
            <a:ext cx="281635" cy="28163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187952" y="279806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김현서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4187952" y="3145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hyunseo0504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187952" y="338328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커밋 · PR 10건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206240" y="3739896"/>
            <a:ext cx="100584" cy="100584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425696" y="3675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숏츠 제작 플로우 (촬영→발행)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206240" y="4123944"/>
            <a:ext cx="100584" cy="100584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425696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숏츠 피드 · 좋아요 · 댓글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206240" y="4507992"/>
            <a:ext cx="100584" cy="100584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425696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알고리즘 · 태그 설계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206240" y="4892040"/>
            <a:ext cx="100584" cy="100584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4425696" y="4828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배너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638544" y="1828800"/>
            <a:ext cx="2432304" cy="3383280"/>
          </a:xfrm>
          <a:prstGeom prst="roundRect">
            <a:avLst>
              <a:gd name="adj" fmla="val 526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912864" y="2066544"/>
            <a:ext cx="640080" cy="640080"/>
          </a:xfrm>
          <a:prstGeom prst="ellipse">
            <a:avLst/>
          </a:prstGeom>
          <a:solidFill>
            <a:srgbClr val="B85C3C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86" y="2245766"/>
            <a:ext cx="281635" cy="281635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912864" y="279806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구영주</a:t>
            </a:r>
            <a:endParaRPr lang="en-US" sz="1700" dirty="0"/>
          </a:p>
        </p:txBody>
      </p:sp>
      <p:sp>
        <p:nvSpPr>
          <p:cNvPr id="39" name="Text 34"/>
          <p:cNvSpPr txBox="1"/>
          <p:nvPr/>
        </p:nvSpPr>
        <p:spPr>
          <a:xfrm>
            <a:off x="6912864" y="3145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greyth93-ship-it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6912864" y="338328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커밋 · PR 8건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931152" y="3739896"/>
            <a:ext cx="100584" cy="100584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7150608" y="3675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주변 장소 검색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931152" y="4123944"/>
            <a:ext cx="100584" cy="100584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7150608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트래킹 · 날씨 브리핑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931152" y="4507992"/>
            <a:ext cx="100584" cy="100584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150608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(function calling)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931152" y="4892040"/>
            <a:ext cx="100584" cy="100584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7150608" y="4828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· EC2 배포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9363456" y="1828800"/>
            <a:ext cx="2432304" cy="3383280"/>
          </a:xfrm>
          <a:prstGeom prst="roundRect">
            <a:avLst>
              <a:gd name="adj" fmla="val 526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9637776" y="2066544"/>
            <a:ext cx="640080" cy="640080"/>
          </a:xfrm>
          <a:prstGeom prst="ellipse">
            <a:avLst/>
          </a:prstGeom>
          <a:solidFill>
            <a:srgbClr val="D89A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998" y="2245766"/>
            <a:ext cx="281635" cy="281635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9637776" y="279806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조종현</a:t>
            </a:r>
            <a:endParaRPr lang="en-US" sz="1700" dirty="0"/>
          </a:p>
        </p:txBody>
      </p:sp>
      <p:sp>
        <p:nvSpPr>
          <p:cNvPr id="53" name="Text 47"/>
          <p:cNvSpPr txBox="1"/>
          <p:nvPr/>
        </p:nvSpPr>
        <p:spPr>
          <a:xfrm>
            <a:off x="9637776" y="3145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zxc159285</a:t>
            </a:r>
            <a:endParaRPr lang="en-US" sz="950" dirty="0"/>
          </a:p>
        </p:txBody>
      </p:sp>
      <p:sp>
        <p:nvSpPr>
          <p:cNvPr id="54" name="Text 48"/>
          <p:cNvSpPr txBox="1"/>
          <p:nvPr/>
        </p:nvSpPr>
        <p:spPr>
          <a:xfrm>
            <a:off x="9637776" y="338328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커밋 · PR 7건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9656064" y="3739896"/>
            <a:ext cx="100584" cy="100584"/>
          </a:xfrm>
          <a:prstGeom prst="ellipse">
            <a:avLst/>
          </a:prstGeom>
          <a:solidFill>
            <a:srgbClr val="D89A45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9875520" y="3675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모델 서버 구축</a:t>
            </a:r>
            <a:endParaRPr lang="en-US" sz="1050" dirty="0"/>
          </a:p>
        </p:txBody>
      </p:sp>
      <p:sp>
        <p:nvSpPr>
          <p:cNvPr id="57" name="Shape 51"/>
          <p:cNvSpPr/>
          <p:nvPr/>
        </p:nvSpPr>
        <p:spPr>
          <a:xfrm>
            <a:off x="9656064" y="4123944"/>
            <a:ext cx="100584" cy="100584"/>
          </a:xfrm>
          <a:prstGeom prst="ellipse">
            <a:avLst/>
          </a:prstGeom>
          <a:solidFill>
            <a:srgbClr val="D89A45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9875520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 피부질환 진단</a:t>
            </a:r>
            <a:endParaRPr lang="en-US" sz="1050" dirty="0"/>
          </a:p>
        </p:txBody>
      </p:sp>
      <p:sp>
        <p:nvSpPr>
          <p:cNvPr id="59" name="Shape 53"/>
          <p:cNvSpPr/>
          <p:nvPr/>
        </p:nvSpPr>
        <p:spPr>
          <a:xfrm>
            <a:off x="9656064" y="4507992"/>
            <a:ext cx="100584" cy="100584"/>
          </a:xfrm>
          <a:prstGeom prst="ellipse">
            <a:avLst/>
          </a:prstGeom>
          <a:solidFill>
            <a:srgbClr val="D89A45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9875520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위험도 진단</a:t>
            </a:r>
            <a:endParaRPr lang="en-US" sz="1050" dirty="0"/>
          </a:p>
        </p:txBody>
      </p:sp>
      <p:sp>
        <p:nvSpPr>
          <p:cNvPr id="61" name="Shape 55"/>
          <p:cNvSpPr/>
          <p:nvPr/>
        </p:nvSpPr>
        <p:spPr>
          <a:xfrm>
            <a:off x="9656064" y="4892040"/>
            <a:ext cx="100584" cy="100584"/>
          </a:xfrm>
          <a:prstGeom prst="ellipse">
            <a:avLst/>
          </a:prstGeom>
          <a:solidFill>
            <a:srgbClr val="D89A45"/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9875520" y="4828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화면 · PDF 소견</a:t>
            </a:r>
            <a:endParaRPr lang="en-US" sz="1050" dirty="0"/>
          </a:p>
        </p:txBody>
      </p:sp>
      <p:sp>
        <p:nvSpPr>
          <p:cNvPr id="63" name="Shape 57"/>
          <p:cNvSpPr/>
          <p:nvPr/>
        </p:nvSpPr>
        <p:spPr>
          <a:xfrm>
            <a:off x="1188720" y="5440680"/>
            <a:ext cx="10607040" cy="731520"/>
          </a:xfrm>
          <a:prstGeom prst="roundRect">
            <a:avLst>
              <a:gd name="adj" fmla="val 15000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64" name="Text 58"/>
          <p:cNvSpPr txBox="1"/>
          <p:nvPr/>
        </p:nvSpPr>
        <p:spPr>
          <a:xfrm>
            <a:off x="1463040" y="5440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방식</a:t>
            </a:r>
            <a:endParaRPr lang="en-US" sz="1300" dirty="0"/>
          </a:p>
        </p:txBody>
      </p:sp>
      <p:sp>
        <p:nvSpPr>
          <p:cNvPr id="65" name="Text 59"/>
          <p:cNvSpPr txBox="1"/>
          <p:nvPr/>
        </p:nvSpPr>
        <p:spPr>
          <a:xfrm>
            <a:off x="2880360" y="54406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브랜치·포크에서 작업 → Pull Request 제출 → 리뷰 후 머지   ·   총 218 커밋 · 25 PR · 2026.08.04 ~ 08.27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단일 오리진 뒤에서 3개 서버가 협력 — Spring이 허브, FastAPI가 모델 전용, Supabase가 저장소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60604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89888" y="3017520"/>
            <a:ext cx="548640" cy="548640"/>
          </a:xfrm>
          <a:prstGeom prst="ellipse">
            <a:avLst/>
          </a:prstGeom>
          <a:solidFill>
            <a:srgbClr val="FFFDFA"/>
          </a:solidFill>
          <a:ln w="12700">
            <a:solidFill>
              <a:srgbClr val="F0E3D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507" y="317113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057400" y="2788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31363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퍼스트 SPA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dist 정적 서빙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11880" y="26060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3A2E26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29100" y="2788920"/>
            <a:ext cx="548640" cy="548640"/>
          </a:xfrm>
          <a:prstGeom prst="ellipse">
            <a:avLst/>
          </a:prstGeom>
          <a:solidFill>
            <a:srgbClr val="FFFDFA"/>
          </a:solidFill>
          <a:ln w="12700">
            <a:solidFill>
              <a:srgbClr val="F0E3D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9" y="294253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33741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3630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오리진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리버스 프록시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669280" y="26060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6B5545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70448" y="3017520"/>
            <a:ext cx="548640" cy="548640"/>
          </a:xfrm>
          <a:prstGeom prst="ellipse">
            <a:avLst/>
          </a:prstGeom>
          <a:solidFill>
            <a:srgbClr val="FFFDFA"/>
          </a:solidFill>
          <a:ln w="12700">
            <a:solidFill>
              <a:srgbClr val="F0E3D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67" y="317113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379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537960" y="31363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API · 인증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· 챗봇 · MCP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732520" y="18745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EF7D66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33688" y="2217420"/>
            <a:ext cx="548640" cy="548640"/>
          </a:xfrm>
          <a:prstGeom prst="ellipse">
            <a:avLst/>
          </a:prstGeom>
          <a:solidFill>
            <a:srgbClr val="FFFDFA"/>
          </a:solidFill>
          <a:ln w="12700">
            <a:solidFill>
              <a:srgbClr val="F0E3D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307" y="23710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0120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모델 서버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9601200" y="24048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 진단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위험도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732520" y="34747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B85C3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933688" y="3817620"/>
            <a:ext cx="548640" cy="548640"/>
          </a:xfrm>
          <a:prstGeom prst="ellipse">
            <a:avLst/>
          </a:prstGeom>
          <a:solidFill>
            <a:srgbClr val="FFFDFA"/>
          </a:solidFill>
          <a:ln w="12700">
            <a:solidFill>
              <a:srgbClr val="F0E3D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307" y="397123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0120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9601200" y="40050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Storage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(JPA / 파일)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337560" y="3287268"/>
            <a:ext cx="274320" cy="9144"/>
          </a:xfrm>
          <a:prstGeom prst="line">
            <a:avLst/>
          </a:prstGeom>
          <a:noFill/>
          <a:ln w="27940">
            <a:solidFill>
              <a:srgbClr val="6B5545"/>
            </a:solidFill>
            <a:prstDash val="solid"/>
            <a:headEnd type="none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5394960" y="3287268"/>
            <a:ext cx="274320" cy="9144"/>
          </a:xfrm>
          <a:prstGeom prst="line">
            <a:avLst/>
          </a:prstGeom>
          <a:noFill/>
          <a:ln w="27940">
            <a:solidFill>
              <a:srgbClr val="6B5545"/>
            </a:solidFill>
            <a:prstDash val="solid"/>
            <a:headEnd type="none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49834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 flipV="1">
            <a:off x="8138160" y="2651760"/>
            <a:ext cx="594360" cy="502920"/>
          </a:xfrm>
          <a:prstGeom prst="line">
            <a:avLst/>
          </a:prstGeom>
          <a:noFill/>
          <a:ln w="27940">
            <a:solidFill>
              <a:srgbClr val="EF7D66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7571232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요청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138160" y="3429000"/>
            <a:ext cx="594360" cy="502920"/>
          </a:xfrm>
          <a:prstGeom prst="line">
            <a:avLst/>
          </a:prstGeom>
          <a:noFill/>
          <a:ln w="27940">
            <a:solidFill>
              <a:srgbClr val="B85C3C"/>
            </a:solidFill>
            <a:prstDash val="solid"/>
            <a:tailEnd type="triangle"/>
          </a:ln>
        </p:spPr>
      </p:sp>
      <p:sp>
        <p:nvSpPr>
          <p:cNvPr id="38" name="Text 31"/>
          <p:cNvSpPr txBox="1"/>
          <p:nvPr/>
        </p:nvSpPr>
        <p:spPr>
          <a:xfrm>
            <a:off x="7571232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저장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1188720" y="534924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1463040" y="55046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결정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3017520" y="5504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프론트+API 동일 오리진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불필요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5212080" y="5504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 쿠키 SameSite=Strict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CSRF 방어 유지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406640" y="5504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서버 격리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추론 분리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9601200" y="5504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/ws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481328"/>
            <a:ext cx="10607040" cy="786384"/>
          </a:xfrm>
          <a:prstGeom prst="roundRect">
            <a:avLst>
              <a:gd name="adj" fmla="val 1395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627632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39" y="1781251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148840" y="14813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48132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· React Router 7 · Vite 8 · @stomp/stompjs · oxlint · PWA(설치)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188720" y="2395728"/>
            <a:ext cx="10607040" cy="786384"/>
          </a:xfrm>
          <a:prstGeom prst="roundRect">
            <a:avLst>
              <a:gd name="adj" fmla="val 1395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17320" y="2542032"/>
            <a:ext cx="548640" cy="548640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39" y="269565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48840" y="23957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239572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3.5.16 · Java 21 · Spring Data JPA · Security · WebSocket(STOMP) · JWT(jjwt)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188720" y="3310128"/>
            <a:ext cx="10607040" cy="786384"/>
          </a:xfrm>
          <a:prstGeom prst="roundRect">
            <a:avLst>
              <a:gd name="adj" fmla="val 1395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417320" y="3456432"/>
            <a:ext cx="548640" cy="548640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39" y="361005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148840" y="33101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통합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206240" y="331012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1.1.8 (MCP Server) · Anthropic Java SDK 2.52 · Caffeine 캐시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188720" y="4224528"/>
            <a:ext cx="10607040" cy="786384"/>
          </a:xfrm>
          <a:prstGeom prst="roundRect">
            <a:avLst>
              <a:gd name="adj" fmla="val 1395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417320" y="4370832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939" y="4524451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148840" y="42245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4206240" y="422452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0.110 · PyTorch 2.x · torchvision(EfficientNet) · scikit-learn · Pillow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1188720" y="5138928"/>
            <a:ext cx="10607040" cy="786384"/>
          </a:xfrm>
          <a:prstGeom prst="roundRect">
            <a:avLst>
              <a:gd name="adj" fmla="val 13953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417320" y="5285232"/>
            <a:ext cx="548640" cy="548640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939" y="5438851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148840" y="51389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Infra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206240" y="513892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40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PostgreSQL · Supabase Storage · EC2 · nginx · certbot(HTTPS) · systemd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1188720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서버는 역할별로 격리하고, 무거운 계산(모델)과 실시간(WebSocket)은 별도 경로로 분리한다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&amp; SECURITY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&amp; 보안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463040"/>
            <a:ext cx="5486400" cy="4572000"/>
          </a:xfrm>
          <a:prstGeom prst="roundRect">
            <a:avLst>
              <a:gd name="adj" fmla="val 2800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인증 흐름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08760" y="2148840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500" y="2307580"/>
            <a:ext cx="249448" cy="2494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286000" y="2130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OAuth 로그인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 → 회원 매핑/가입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780337" y="2734056"/>
            <a:ext cx="23774" cy="3657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13" name="Shape 10"/>
          <p:cNvSpPr/>
          <p:nvPr/>
        </p:nvSpPr>
        <p:spPr>
          <a:xfrm>
            <a:off x="1508760" y="3108960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00" y="3267700"/>
            <a:ext cx="249448" cy="2494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86000" y="3090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 Token 발급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286000" y="3410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수명 · 요청 헤더로 인증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780337" y="3694176"/>
            <a:ext cx="23774" cy="3657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18" name="Shape 14"/>
          <p:cNvSpPr/>
          <p:nvPr/>
        </p:nvSpPr>
        <p:spPr>
          <a:xfrm>
            <a:off x="1508760" y="4069080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0" y="4227820"/>
            <a:ext cx="249448" cy="2494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286000" y="4050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 Token 회전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2286000" y="4370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HttpOnly · SameSite=Strict 쿠키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1780337" y="4654296"/>
            <a:ext cx="23774" cy="3657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23" name="Shape 18"/>
          <p:cNvSpPr/>
          <p:nvPr/>
        </p:nvSpPr>
        <p:spPr>
          <a:xfrm>
            <a:off x="1508760" y="5029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500" y="5187940"/>
            <a:ext cx="249448" cy="2494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286000" y="5010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탐지 → 차단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228600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탈취된 토큰 재사용 시 세션 무효화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903720" y="1463040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132320" y="1700784"/>
            <a:ext cx="548640" cy="548640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939" y="1854403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863840" y="1682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오리진 배포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863840" y="204825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프론트와 API를 같은 도메인에 두어 CORS 자체를 제거하고 SameSite=Strict를 유지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903720" y="3035808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7132320" y="3273552"/>
            <a:ext cx="548640" cy="548640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939" y="3427171"/>
            <a:ext cx="241402" cy="2414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863840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오리진 통일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7863840" y="362102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CORS와 STOMP 오리진 목록을 같은 프로퍼티로 주입 — "실시간만 조용히 죽는" 버그 차단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903720" y="4608576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132320" y="4846320"/>
            <a:ext cx="548640" cy="548640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5939" y="4999939"/>
            <a:ext cx="241402" cy="2414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863840" y="4828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pet_id 신뢰 경계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7863840" y="519379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만든 pet_id를 믿지 않고 인증된 요청의 petId로만 조회 — 권한 우회 방지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· SHORTS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 숏츠 (릴스)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서비스의 메인 화면. 촬영부터 발행까지 4단계 풀스크린 제작 플로우 + 세로 스냅 피드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103120"/>
            <a:ext cx="2359152" cy="1554480"/>
          </a:xfrm>
          <a:prstGeom prst="roundRect">
            <a:avLst>
              <a:gd name="adj" fmla="val 823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84248" y="2359152"/>
            <a:ext cx="768096" cy="768096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315" y="2574219"/>
            <a:ext cx="337962" cy="33796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1546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42900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녹화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70048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31920" y="2103120"/>
            <a:ext cx="2359152" cy="1554480"/>
          </a:xfrm>
          <a:prstGeom prst="roundRect">
            <a:avLst>
              <a:gd name="adj" fmla="val 823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27448" y="2359152"/>
            <a:ext cx="768096" cy="768096"/>
          </a:xfrm>
          <a:prstGeom prst="ellipse">
            <a:avLst/>
          </a:prstGeom>
          <a:solidFill>
            <a:srgbClr val="B85C3C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15" y="2574219"/>
            <a:ext cx="337962" cy="3379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31546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트림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342900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자르기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7004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675120" y="2103120"/>
            <a:ext cx="2359152" cy="1554480"/>
          </a:xfrm>
          <a:prstGeom prst="roundRect">
            <a:avLst>
              <a:gd name="adj" fmla="val 823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470648" y="2359152"/>
            <a:ext cx="768096" cy="768096"/>
          </a:xfrm>
          <a:prstGeom prst="ellipse">
            <a:avLst/>
          </a:prstGeom>
          <a:solidFill>
            <a:srgbClr val="EF7D66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715" y="2574219"/>
            <a:ext cx="337962" cy="3379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675120" y="31546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675120" y="342900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텍스트·음악·썸네일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670048"/>
            <a:ext cx="329184" cy="32918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418320" y="2103120"/>
            <a:ext cx="2359152" cy="1554480"/>
          </a:xfrm>
          <a:prstGeom prst="roundRect">
            <a:avLst>
              <a:gd name="adj" fmla="val 823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213848" y="2359152"/>
            <a:ext cx="768096" cy="768096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8915" y="2574219"/>
            <a:ext cx="337962" cy="33796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418320" y="31546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9418320" y="342900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업로드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1188720" y="3977640"/>
            <a:ext cx="3401568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1463040" y="4206240"/>
            <a:ext cx="603504" cy="603504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2021" y="4375221"/>
            <a:ext cx="265542" cy="26554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463040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스냅 피드</a:t>
            </a:r>
            <a:endParaRPr lang="en-US" sz="1450" dirty="0"/>
          </a:p>
        </p:txBody>
      </p:sp>
      <p:sp>
        <p:nvSpPr>
          <p:cNvPr id="34" name="Text 24"/>
          <p:cNvSpPr txBox="1"/>
          <p:nvPr/>
        </p:nvSpPr>
        <p:spPr>
          <a:xfrm>
            <a:off x="1463040" y="52852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개씩 몰입 감상 · 무거운 화면은 lazy 로드로 초기 번들 분리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4809744" y="3977640"/>
            <a:ext cx="3401568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5084064" y="4206240"/>
            <a:ext cx="603504" cy="603504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3045" y="4375221"/>
            <a:ext cx="265542" cy="26554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084064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</a:t>
            </a:r>
            <a:endParaRPr lang="en-US" sz="1450" dirty="0"/>
          </a:p>
        </p:txBody>
      </p:sp>
      <p:sp>
        <p:nvSpPr>
          <p:cNvPr id="39" name="Text 28"/>
          <p:cNvSpPr txBox="1"/>
          <p:nvPr/>
        </p:nvSpPr>
        <p:spPr>
          <a:xfrm>
            <a:off x="5084064" y="52852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· 댓글 · 신고 · 비로그인은 좋아요 시 로그인 유도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8430768" y="3977640"/>
            <a:ext cx="3401568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8705088" y="4206240"/>
            <a:ext cx="603504" cy="603504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4069" y="4375221"/>
            <a:ext cx="265542" cy="26554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705088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알고리즘</a:t>
            </a:r>
            <a:endParaRPr lang="en-US" sz="1450" dirty="0"/>
          </a:p>
        </p:txBody>
      </p:sp>
      <p:sp>
        <p:nvSpPr>
          <p:cNvPr id="44" name="Text 32"/>
          <p:cNvSpPr txBox="1"/>
          <p:nvPr/>
        </p:nvSpPr>
        <p:spPr>
          <a:xfrm>
            <a:off x="8705088" y="52852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· 가중치 기반 개인화 피드 (별도 설계 문서로 고도화)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· OPEN CHAT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 오픈채팅 (실시간)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 over WebSocket 실시간 채팅 — 수신은 WebSocket, 발신은 REST로 분리한 하이브리드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10607040" cy="1691640"/>
          </a:xfrm>
          <a:prstGeom prst="roundRect">
            <a:avLst>
              <a:gd name="adj" fmla="val 7568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23317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6B5545"/>
          </a:solidFill>
          <a:ln/>
        </p:spPr>
      </p:sp>
      <p:sp>
        <p:nvSpPr>
          <p:cNvPr id="9" name="Shape 7"/>
          <p:cNvSpPr/>
          <p:nvPr/>
        </p:nvSpPr>
        <p:spPr>
          <a:xfrm>
            <a:off x="1719072" y="2542032"/>
            <a:ext cx="530352" cy="530352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571" y="2690531"/>
            <a:ext cx="233355" cy="23335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33172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발신자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8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/messages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160520" y="23317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3A2E26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5112" y="2542032"/>
            <a:ext cx="530352" cy="530352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611" y="2690531"/>
            <a:ext cx="233355" cy="23335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+ 이벤트</a:t>
            </a:r>
            <a:endParaRPr lang="en-US" sz="8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6766560" y="23317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B85C3C"/>
          </a:solidFill>
          <a:ln/>
        </p:spPr>
      </p:sp>
      <p:sp>
        <p:nvSpPr>
          <p:cNvPr id="19" name="Shape 15"/>
          <p:cNvSpPr/>
          <p:nvPr/>
        </p:nvSpPr>
        <p:spPr>
          <a:xfrm>
            <a:off x="6931152" y="2542032"/>
            <a:ext cx="530352" cy="530352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651" y="2690531"/>
            <a:ext cx="233355" cy="23335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4380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Broadcaster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54380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/topic/rooms</a:t>
            </a:r>
            <a:endParaRPr lang="en-US" sz="8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/{id}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9372600" y="23317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F7D66"/>
          </a:solidFill>
          <a:ln/>
        </p:spPr>
      </p:sp>
      <p:sp>
        <p:nvSpPr>
          <p:cNvPr id="24" name="Shape 19"/>
          <p:cNvSpPr/>
          <p:nvPr/>
        </p:nvSpPr>
        <p:spPr>
          <a:xfrm>
            <a:off x="9537192" y="2542032"/>
            <a:ext cx="530352" cy="530352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691" y="2690531"/>
            <a:ext cx="233355" cy="23335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14984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구독자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1014984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8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수신</a:t>
            </a:r>
            <a:endParaRPr lang="en-US" sz="88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633472"/>
            <a:ext cx="292608" cy="292608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633472"/>
            <a:ext cx="292608" cy="2926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2633472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554480" y="3364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 = REST (POST)</a:t>
            </a:r>
            <a:endParaRPr lang="en-US" sz="950" dirty="0"/>
          </a:p>
        </p:txBody>
      </p:sp>
      <p:sp>
        <p:nvSpPr>
          <p:cNvPr id="32" name="Text 23"/>
          <p:cNvSpPr txBox="1"/>
          <p:nvPr/>
        </p:nvSpPr>
        <p:spPr>
          <a:xfrm>
            <a:off x="6675120" y="3364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= WebSocket 전용 (SimpleBroker)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1188720" y="3977640"/>
            <a:ext cx="2432304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1463040" y="4215384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1780" y="4374124"/>
            <a:ext cx="249448" cy="24944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463040" y="491032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운영</a:t>
            </a:r>
            <a:endParaRPr lang="en-US" sz="1450" dirty="0"/>
          </a:p>
        </p:txBody>
      </p:sp>
      <p:sp>
        <p:nvSpPr>
          <p:cNvPr id="37" name="Text 27"/>
          <p:cNvSpPr txBox="1"/>
          <p:nvPr/>
        </p:nvSpPr>
        <p:spPr>
          <a:xfrm>
            <a:off x="1463040" y="5276088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개설 · 검색/필터 · 정원 · 카테고리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3913632" y="3977640"/>
            <a:ext cx="2432304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4187952" y="4215384"/>
            <a:ext cx="566928" cy="566928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6692" y="4374124"/>
            <a:ext cx="249448" cy="249448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187952" y="491032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권한</a:t>
            </a:r>
            <a:endParaRPr lang="en-US" sz="1450" dirty="0"/>
          </a:p>
        </p:txBody>
      </p:sp>
      <p:sp>
        <p:nvSpPr>
          <p:cNvPr id="42" name="Text 31"/>
          <p:cNvSpPr txBox="1"/>
          <p:nvPr/>
        </p:nvSpPr>
        <p:spPr>
          <a:xfrm>
            <a:off x="4187952" y="5276088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 · 위임 · 강퇴(연결 종료)</a:t>
            </a:r>
            <a:endParaRPr lang="en-US" sz="1150" dirty="0"/>
          </a:p>
        </p:txBody>
      </p:sp>
      <p:sp>
        <p:nvSpPr>
          <p:cNvPr id="43" name="Shape 32"/>
          <p:cNvSpPr/>
          <p:nvPr/>
        </p:nvSpPr>
        <p:spPr>
          <a:xfrm>
            <a:off x="6638544" y="3977640"/>
            <a:ext cx="2432304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6912864" y="4215384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1604" y="4374124"/>
            <a:ext cx="249448" cy="24944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912864" y="491032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읽음 · 고정</a:t>
            </a:r>
            <a:endParaRPr lang="en-US" sz="1450" dirty="0"/>
          </a:p>
        </p:txBody>
      </p:sp>
      <p:sp>
        <p:nvSpPr>
          <p:cNvPr id="47" name="Text 35"/>
          <p:cNvSpPr txBox="1"/>
          <p:nvPr/>
        </p:nvSpPr>
        <p:spPr>
          <a:xfrm>
            <a:off x="6912864" y="5276088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읽음 수 · 방 고정 최대 5개</a:t>
            </a:r>
            <a:endParaRPr lang="en-US" sz="1150" dirty="0"/>
          </a:p>
        </p:txBody>
      </p:sp>
      <p:sp>
        <p:nvSpPr>
          <p:cNvPr id="48" name="Shape 36"/>
          <p:cNvSpPr/>
          <p:nvPr/>
        </p:nvSpPr>
        <p:spPr>
          <a:xfrm>
            <a:off x="9363456" y="3977640"/>
            <a:ext cx="2432304" cy="2011680"/>
          </a:xfrm>
          <a:prstGeom prst="roundRect">
            <a:avLst>
              <a:gd name="adj" fmla="val 6364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9" name="Shape 37"/>
          <p:cNvSpPr/>
          <p:nvPr/>
        </p:nvSpPr>
        <p:spPr>
          <a:xfrm>
            <a:off x="9637776" y="4215384"/>
            <a:ext cx="566928" cy="566928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6516" y="4374124"/>
            <a:ext cx="249448" cy="249448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9637776" y="491032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메시지</a:t>
            </a:r>
            <a:endParaRPr lang="en-US" sz="1450" dirty="0"/>
          </a:p>
        </p:txBody>
      </p:sp>
      <p:sp>
        <p:nvSpPr>
          <p:cNvPr id="52" name="Text 39"/>
          <p:cNvSpPr txBox="1"/>
          <p:nvPr/>
        </p:nvSpPr>
        <p:spPr>
          <a:xfrm>
            <a:off x="9637776" y="5276088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업로드는 트랜잭션 밖, 저장만 짧게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DIAGNOSIS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 AI 질병 진단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갈래의 진단 파이프라인 — 사진 한 장으로 피부질환을, 수치+문진으로 종합 위험도를 판정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5166360" cy="4069080"/>
          </a:xfrm>
          <a:prstGeom prst="roundRect">
            <a:avLst>
              <a:gd name="adj" fmla="val 3596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1965960"/>
            <a:ext cx="5166360" cy="1234440"/>
          </a:xfrm>
          <a:prstGeom prst="roundRect">
            <a:avLst>
              <a:gd name="adj" fmla="val 11852"/>
            </a:avLst>
          </a:prstGeom>
          <a:solidFill>
            <a:srgbClr val="6B5545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834640"/>
            <a:ext cx="5166360" cy="365760"/>
          </a:xfrm>
          <a:prstGeom prst="rect">
            <a:avLst/>
          </a:prstGeom>
          <a:solidFill>
            <a:srgbClr val="6B5545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286000"/>
            <a:ext cx="658368" cy="658368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103" y="2470343"/>
            <a:ext cx="289682" cy="28968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33172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A · VISION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피부질환 이미지 진단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554480" y="3429000"/>
            <a:ext cx="384048" cy="38404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13" y="3536533"/>
            <a:ext cx="168981" cy="16898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103120" y="3383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B0~B3 아키텍처 체크포인트 자동 감지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554480" y="4087368"/>
            <a:ext cx="384048" cy="38404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013" y="4194901"/>
            <a:ext cx="168981" cy="16898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103120" y="40416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12종 다중분류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구진성·농피증·탈모증 등 세부 질환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554480" y="4745736"/>
            <a:ext cx="384048" cy="38404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013" y="4853269"/>
            <a:ext cx="168981" cy="16898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103120" y="47000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앙상블 스크리닝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vs 질환 가능성 1차 판정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554480" y="5404104"/>
            <a:ext cx="384048" cy="38404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013" y="5511637"/>
            <a:ext cx="168981" cy="16898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103120" y="5358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컴퓨터비전 보정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발적·충혈 픽셀 지수 병행 분석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766560" y="1965960"/>
            <a:ext cx="5166360" cy="4069080"/>
          </a:xfrm>
          <a:prstGeom prst="roundRect">
            <a:avLst>
              <a:gd name="adj" fmla="val 3596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766560" y="1965960"/>
            <a:ext cx="5166360" cy="1234440"/>
          </a:xfrm>
          <a:prstGeom prst="roundRect">
            <a:avLst>
              <a:gd name="adj" fmla="val 11852"/>
            </a:avLst>
          </a:prstGeom>
          <a:solidFill>
            <a:srgbClr val="EF7D66"/>
          </a:solidFill>
          <a:ln/>
        </p:spPr>
      </p:sp>
      <p:sp>
        <p:nvSpPr>
          <p:cNvPr id="28" name="Shape 21"/>
          <p:cNvSpPr/>
          <p:nvPr/>
        </p:nvSpPr>
        <p:spPr>
          <a:xfrm>
            <a:off x="6766560" y="2834640"/>
            <a:ext cx="5166360" cy="365760"/>
          </a:xfrm>
          <a:prstGeom prst="rect">
            <a:avLst/>
          </a:prstGeom>
          <a:solidFill>
            <a:srgbClr val="EF7D66"/>
          </a:solidFill>
          <a:ln/>
        </p:spPr>
      </p:sp>
      <p:sp>
        <p:nvSpPr>
          <p:cNvPr id="29" name="Shape 22"/>
          <p:cNvSpPr/>
          <p:nvPr/>
        </p:nvSpPr>
        <p:spPr>
          <a:xfrm>
            <a:off x="7086600" y="2286000"/>
            <a:ext cx="658368" cy="658368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0943" y="2470343"/>
            <a:ext cx="289682" cy="28968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90956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B · HYBRID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909560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위험도 진단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7132320" y="3429000"/>
            <a:ext cx="384048" cy="38404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853" y="3536533"/>
            <a:ext cx="168981" cy="168981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680960" y="3383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5종 MLP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나이·체중·CRP·IgG·IL-6 신경망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7132320" y="4087368"/>
            <a:ext cx="384048" cy="38404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853" y="4194901"/>
            <a:ext cx="168981" cy="16898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680960" y="40416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텍스트 분석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키워드 위험 가중치 규칙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7132320" y="4745736"/>
            <a:ext cx="384048" cy="38404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853" y="4853269"/>
            <a:ext cx="168981" cy="168981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680960" y="47000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위험도 점수제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50점 임계값 → NOR / ABN 판정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7132320" y="5404104"/>
            <a:ext cx="384048" cy="38404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853" y="5511637"/>
            <a:ext cx="168981" cy="168981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680960" y="5358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소견 출력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결과를 문서로 저장·공유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DIAGNOSIS · TRACK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피부질환 이미지 진단 파이프라인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554480"/>
            <a:ext cx="2359152" cy="1417320"/>
          </a:xfrm>
          <a:prstGeom prst="roundRect">
            <a:avLst>
              <a:gd name="adj" fmla="val 903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39112" y="1755648"/>
            <a:ext cx="658368" cy="65836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455" y="1939991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4688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입력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249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224×224 정규화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57400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1554480"/>
            <a:ext cx="2359152" cy="1417320"/>
          </a:xfrm>
          <a:prstGeom prst="roundRect">
            <a:avLst>
              <a:gd name="adj" fmla="val 9032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82312" y="1755648"/>
            <a:ext cx="658368" cy="658368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655" y="1939991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24688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931920" y="27249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 감지 → 백본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57400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675120" y="1554480"/>
            <a:ext cx="2359152" cy="1417320"/>
          </a:xfrm>
          <a:prstGeom prst="roundRect">
            <a:avLst>
              <a:gd name="adj" fmla="val 903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525512" y="1755648"/>
            <a:ext cx="658368" cy="65836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855" y="1939991"/>
            <a:ext cx="289682" cy="28968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675120" y="24688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앙상블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6675120" y="27249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정상/질환 스크리닝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057400"/>
            <a:ext cx="329184" cy="32918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418320" y="1554480"/>
            <a:ext cx="2359152" cy="1417320"/>
          </a:xfrm>
          <a:prstGeom prst="roundRect">
            <a:avLst>
              <a:gd name="adj" fmla="val 9032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268712" y="1755648"/>
            <a:ext cx="658368" cy="65836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3055" y="1939991"/>
            <a:ext cx="289682" cy="28968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418320" y="24688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12종 분류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9418320" y="27249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 소견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1188720" y="324612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1417320" y="3401568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0939" y="3555187"/>
            <a:ext cx="241402" cy="2414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2148840" y="3246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자동 감지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4892040" y="324612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first-conv·classifier 텐서 차원을 교차 검증해 B0/B1/B2/B3 백본을 런타임에 자동 매칭. Colab 체크포인트 키(module. 접두어 등)도 자동 정돈.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1188720" y="4197096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1417320" y="4352544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0939" y="4506163"/>
            <a:ext cx="241402" cy="24140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2148840" y="419709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앙상블 스크리닝</a:t>
            </a:r>
            <a:endParaRPr lang="en-US" sz="1350" dirty="0"/>
          </a:p>
        </p:txBody>
      </p:sp>
      <p:sp>
        <p:nvSpPr>
          <p:cNvPr id="38" name="Text 27"/>
          <p:cNvSpPr txBox="1"/>
          <p:nvPr/>
        </p:nvSpPr>
        <p:spPr>
          <a:xfrm>
            <a:off x="4892040" y="4197096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모델과 다중 모델을 함께 써 "정상 vs 피부질환 가능성"을 1차로 거른 뒤 세부 12종으로 넘긴다.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1188720" y="5148072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1417320" y="5303520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0939" y="5457139"/>
            <a:ext cx="241402" cy="24140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2148840" y="51480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컴퓨터비전 보정</a:t>
            </a:r>
            <a:endParaRPr lang="en-US" sz="1350" dirty="0"/>
          </a:p>
        </p:txBody>
      </p:sp>
      <p:sp>
        <p:nvSpPr>
          <p:cNvPr id="43" name="Text 31"/>
          <p:cNvSpPr txBox="1"/>
          <p:nvPr/>
        </p:nvSpPr>
        <p:spPr>
          <a:xfrm>
            <a:off x="4892040" y="5148072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딥러닝과 별개로 R&gt;G·R&gt;B 픽셀 마스크로 발적/충혈 비율을 계산해 활성 병변 여부를 교차 확인.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DIAGNOSIS · TRACK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위험도 점수제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신경망 확률을 기준점(base)으로, 바이오마커·증상 키워드 가중치를 더해 최종 위험도를 산출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3200400" cy="4069080"/>
          </a:xfrm>
          <a:prstGeom prst="roundRect">
            <a:avLst>
              <a:gd name="adj" fmla="val 4000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463040" y="2121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603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5종 (MLP)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 · 체중 · CRP · IgG · IL-6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텍스트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보호자가 서술한 증상 자연어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343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StandardScaler(.pkl) 없으면 내장 표준화로 폴백 — 자산 로드 실패에도 서버는 뜬다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3977640" cy="4069080"/>
          </a:xfrm>
          <a:prstGeom prst="roundRect">
            <a:avLst>
              <a:gd name="adj" fmla="val 3218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9204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가산 규칙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2651760"/>
            <a:ext cx="146304" cy="146304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위험도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871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ABN 확률 (최대 20점)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337560"/>
            <a:ext cx="146304" cy="146304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32644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바이오마커 이상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557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CRP·IL-6·IgG 초과 → +30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4023360"/>
            <a:ext cx="146304" cy="146304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12080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치명 응급 키워드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혈토·호흡곤란·혈변 → +35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4709160"/>
            <a:ext cx="146304" cy="146304"/>
          </a:xfrm>
          <a:prstGeom prst="ellipse">
            <a:avLst/>
          </a:prstGeom>
          <a:solidFill>
            <a:srgbClr val="D89A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12080" y="4636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중등도 키워드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4928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연속구토·물설사 → 개당 +12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5394960"/>
            <a:ext cx="146304" cy="146304"/>
          </a:xfrm>
          <a:prstGeom prst="ellipse">
            <a:avLst/>
          </a:prstGeom>
          <a:solidFill>
            <a:srgbClr val="9A8D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12080" y="5321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경미 키워드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56144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1회성구토·그루밍 → 완화 −5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23960" y="1965960"/>
            <a:ext cx="2971800" cy="4069080"/>
          </a:xfrm>
          <a:prstGeom prst="roundRect">
            <a:avLst>
              <a:gd name="adj" fmla="val 4308"/>
            </a:avLst>
          </a:prstGeom>
          <a:solidFill>
            <a:srgbClr val="3A2E26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098280" y="2121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98280" y="26060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4E3E33"/>
          </a:solidFill>
          <a:ln w="12700">
            <a:solidFill>
              <a:srgbClr val="6B55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9828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 50점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98280" y="3383280"/>
            <a:ext cx="2423160" cy="1051560"/>
          </a:xfrm>
          <a:prstGeom prst="roundRect">
            <a:avLst>
              <a:gd name="adj" fmla="val 10435"/>
            </a:avLst>
          </a:prstGeom>
          <a:solidFill>
            <a:srgbClr val="D89A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98280" y="34930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3913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50점 · 경과 관찰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98280" y="457200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D2553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98280" y="47000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ABN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9098280" y="510235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50점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진료 권장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— function calling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Messages API의 tool-use 루프를 직접 구현 — 필요할 때 도구를 호출해 근거를 확보하고 답변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5623560" cy="4069080"/>
          </a:xfrm>
          <a:prstGeom prst="roundRect">
            <a:avLst>
              <a:gd name="adj" fmla="val 3146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463040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Tool-use 루프 (최대 5회)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2651760"/>
            <a:ext cx="566928" cy="56692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220" y="2810500"/>
            <a:ext cx="249448" cy="2494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331720" y="2633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2953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애 어디가 안 좋을까?"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816913" y="3236976"/>
            <a:ext cx="23774" cy="256032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14" name="Shape 11"/>
          <p:cNvSpPr/>
          <p:nvPr/>
        </p:nvSpPr>
        <p:spPr>
          <a:xfrm>
            <a:off x="1554480" y="3493008"/>
            <a:ext cx="566928" cy="566928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20" y="3651748"/>
            <a:ext cx="249448" cy="2494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31720" y="3474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판단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33172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필요 여부 결정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816913" y="4078224"/>
            <a:ext cx="23774" cy="256032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19" name="Shape 15"/>
          <p:cNvSpPr/>
          <p:nvPr/>
        </p:nvSpPr>
        <p:spPr>
          <a:xfrm>
            <a:off x="1554480" y="4334256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220" y="4492996"/>
            <a:ext cx="249448" cy="2494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331720" y="4315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실행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331720" y="4636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Spring이 실제 조회 수행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1816913" y="4919472"/>
            <a:ext cx="23774" cy="256032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24" name="Shape 19"/>
          <p:cNvSpPr/>
          <p:nvPr/>
        </p:nvSpPr>
        <p:spPr>
          <a:xfrm>
            <a:off x="1554480" y="5175504"/>
            <a:ext cx="566928" cy="566928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220" y="5334244"/>
            <a:ext cx="249448" cy="2494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331720" y="51572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반영 답변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2331720" y="54772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+ 병원 추천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708660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도구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949440" y="2514600"/>
            <a:ext cx="4846320" cy="1371600"/>
          </a:xfrm>
          <a:prstGeom prst="roundRect">
            <a:avLst>
              <a:gd name="adj" fmla="val 9333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78040" y="2734056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659" y="2887675"/>
            <a:ext cx="241402" cy="2414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882128" y="2734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get_disease_prediction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7882128" y="30815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질병예측(이상 징후) 결과 조회 — 건강/병원 질문의 근거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949440" y="3995928"/>
            <a:ext cx="4846320" cy="1371600"/>
          </a:xfrm>
          <a:prstGeom prst="roundRect">
            <a:avLst>
              <a:gd name="adj" fmla="val 9333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178040" y="4215384"/>
            <a:ext cx="548640" cy="548640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659" y="4369003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882128" y="4215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search_places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7882128" y="456285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좌표+키워드로 주변 동물병원/카페/호텔 검색 (카카오 로컬)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949440" y="5486400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3A2E26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7132320" y="5486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정보 없으면 도구 호출 대신 되묻기 · 모델 ID는 프로퍼티 주입(하드코딩 X)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— 도메인 도구를 외부 AI로 확장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MCP Server로 같은 비즈니스 로직을 Claude Desktop 등 외부 AI 호스트에 도구로 재노출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2011680"/>
            <a:ext cx="3886200" cy="1371600"/>
          </a:xfrm>
          <a:prstGeom prst="roundRect">
            <a:avLst>
              <a:gd name="adj" fmla="val 9333"/>
            </a:avLst>
          </a:prstGeom>
          <a:solidFill>
            <a:srgbClr val="3A2E26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2423160"/>
            <a:ext cx="548640" cy="54864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459" y="257677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138928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MCP Server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138928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 + HTTP(SSE) 이중 노출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17830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호스트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88720" y="3977640"/>
            <a:ext cx="2432304" cy="1691640"/>
          </a:xfrm>
          <a:prstGeom prst="roundRect">
            <a:avLst>
              <a:gd name="adj" fmla="val 7568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75688" y="4197096"/>
            <a:ext cx="658368" cy="65836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031" y="4381439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493776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질병예측 조회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52395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getDiseasePrediction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395728" y="3383280"/>
            <a:ext cx="18288" cy="5943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19" name="Shape 15"/>
          <p:cNvSpPr/>
          <p:nvPr/>
        </p:nvSpPr>
        <p:spPr>
          <a:xfrm>
            <a:off x="3913632" y="3977640"/>
            <a:ext cx="2432304" cy="1691640"/>
          </a:xfrm>
          <a:prstGeom prst="roundRect">
            <a:avLst>
              <a:gd name="adj" fmla="val 7568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0600" y="4197096"/>
            <a:ext cx="658368" cy="658368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43" y="4381439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913632" y="493776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검색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913632" y="52395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searchPlaces (카카오)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120640" y="3383280"/>
            <a:ext cx="18288" cy="5943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25" name="Shape 20"/>
          <p:cNvSpPr/>
          <p:nvPr/>
        </p:nvSpPr>
        <p:spPr>
          <a:xfrm>
            <a:off x="6638544" y="3977640"/>
            <a:ext cx="2432304" cy="1691640"/>
          </a:xfrm>
          <a:prstGeom prst="roundRect">
            <a:avLst>
              <a:gd name="adj" fmla="val 7568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25512" y="4197096"/>
            <a:ext cx="658368" cy="658368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855" y="4381439"/>
            <a:ext cx="289682" cy="28968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38544" y="493776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날씨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638544" y="52395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기온·아스팔트 온도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845552" y="3383280"/>
            <a:ext cx="18288" cy="5943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31" name="Shape 25"/>
          <p:cNvSpPr/>
          <p:nvPr/>
        </p:nvSpPr>
        <p:spPr>
          <a:xfrm>
            <a:off x="9363456" y="3977640"/>
            <a:ext cx="2432304" cy="1691640"/>
          </a:xfrm>
          <a:prstGeom prst="roundRect">
            <a:avLst>
              <a:gd name="adj" fmla="val 7568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250424" y="4197096"/>
            <a:ext cx="658368" cy="658368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4767" y="4381439"/>
            <a:ext cx="289682" cy="28968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363456" y="493776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브리핑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363456" y="52395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적기·경고 판정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10570464" y="3383280"/>
            <a:ext cx="18288" cy="594360"/>
          </a:xfrm>
          <a:prstGeom prst="rect">
            <a:avLst/>
          </a:prstGeom>
          <a:solidFill>
            <a:srgbClr val="F0E3D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1188720" y="5852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5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어댑터 원칙 — 판정 로직을 새로 만들지 않고 기존 서비스에 위임 · 기본 프로파일에선 비활성화로 격리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LOCATION &amp; MORE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산책 · 부가 기능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508760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783080"/>
            <a:ext cx="658368" cy="658368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671" y="1967423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253288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장소 검색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99616" y="28803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+ 카카오 로컬로 동물병원·애견카페·애견호텔 검색. 약관상 영구 저장 금지라 Caffeine TTL 캐시만.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28032" y="1508760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783080"/>
            <a:ext cx="658368" cy="658368"/>
          </a:xfrm>
          <a:prstGeom prst="ellipse">
            <a:avLst/>
          </a:prstGeom>
          <a:solidFill>
            <a:srgbClr val="B85C3C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983" y="1967423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253288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트래킹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138928" y="28803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위치 트래커로 산책 경로 기록. 아스팔트 온도 경고·산책 적기 브리핑 제공.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467344" y="1508760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59952" y="1783080"/>
            <a:ext cx="658368" cy="658368"/>
          </a:xfrm>
          <a:prstGeom prst="ellipse">
            <a:avLst/>
          </a:prstGeom>
          <a:solidFill>
            <a:srgbClr val="EF7D66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295" y="1967423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78240" y="253288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설치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778240" y="28803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퍼스트 설계. 홈 화면에 앱처럼 설치(InstallApp) — 브라우저 없이 바로 진입.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1188720" y="3886200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481328" y="4160520"/>
            <a:ext cx="658368" cy="658368"/>
          </a:xfrm>
          <a:prstGeom prst="ellipse">
            <a:avLst/>
          </a:prstGeom>
          <a:solidFill>
            <a:srgbClr val="6B5545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671" y="4344863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491032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499616" y="525780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프로필·펫 관리·보안·탈퇴. 펫 등록/상세/수정, 노출 순서 조정까지.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828032" y="3886200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120640" y="4160520"/>
            <a:ext cx="658368" cy="658368"/>
          </a:xfrm>
          <a:prstGeom prst="ellipse">
            <a:avLst/>
          </a:prstGeom>
          <a:solidFill>
            <a:srgbClr val="B85C3C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983" y="4344863"/>
            <a:ext cx="289682" cy="28968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91032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배너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138928" y="525780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상단 배너 슬롯 — 노출/관리 API로 운영.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467344" y="3886200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759952" y="4160520"/>
            <a:ext cx="658368" cy="658368"/>
          </a:xfrm>
          <a:prstGeom prst="ellipse">
            <a:avLst/>
          </a:prstGeom>
          <a:solidFill>
            <a:srgbClr val="EF7D66"/>
          </a:solidFill>
          <a:ln/>
          <a:effectLst>
            <a:outerShdw sx="100000" sy="100000" kx="0" ky="0" algn="bl" rotWithShape="0" blurRad="76200" dist="25400" dir="5400000">
              <a:srgbClr val="5A3C1E">
                <a:alpha val="1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4295" y="4344863"/>
            <a:ext cx="289682" cy="28968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778240" y="491032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778240" y="525780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펫 프로필 요약 + 진단·채팅·지도 진입점을 하나로.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(PostgreSQL · JPA)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데이터는 정한 컬럼에 맞춰 넘어온다고 가정 · 측정 시각 기준으로 생체·배설 정보를 매칭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3310128" cy="3749040"/>
          </a:xfrm>
          <a:prstGeom prst="roundRect">
            <a:avLst>
              <a:gd name="adj" fmla="val 386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1965960"/>
            <a:ext cx="3310128" cy="960120"/>
          </a:xfrm>
          <a:prstGeom prst="roundRect">
            <a:avLst>
              <a:gd name="adj" fmla="val 13333"/>
            </a:avLst>
          </a:prstGeom>
          <a:solidFill>
            <a:srgbClr val="6B5545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560320"/>
            <a:ext cx="3310128" cy="365760"/>
          </a:xfrm>
          <a:prstGeom prst="rect">
            <a:avLst/>
          </a:prstGeom>
          <a:solidFill>
            <a:srgbClr val="6B5545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2167128"/>
            <a:ext cx="548640" cy="548640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947" y="2320747"/>
            <a:ext cx="241402" cy="2414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148840" y="196596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· 반려동물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499616" y="3255264"/>
            <a:ext cx="128016" cy="128016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755648" y="32004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755648" y="34564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카카오/일반 계정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499616" y="4032504"/>
            <a:ext cx="128016" cy="128016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55648" y="39776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refresh_tokens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755648" y="42336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회전·재사용 탐지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499616" y="4809744"/>
            <a:ext cx="128016" cy="128016"/>
          </a:xfrm>
          <a:prstGeom prst="ellipse">
            <a:avLst/>
          </a:prstGeom>
          <a:solidFill>
            <a:srgbClr val="6B554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755648" y="47548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755648" y="501091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종·품종·생년월일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28032" y="1965960"/>
            <a:ext cx="3310128" cy="3749040"/>
          </a:xfrm>
          <a:prstGeom prst="roundRect">
            <a:avLst>
              <a:gd name="adj" fmla="val 386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28032" y="1965960"/>
            <a:ext cx="3310128" cy="960120"/>
          </a:xfrm>
          <a:prstGeom prst="roundRect">
            <a:avLst>
              <a:gd name="adj" fmla="val 13333"/>
            </a:avLst>
          </a:prstGeom>
          <a:solidFill>
            <a:srgbClr val="EF7D66"/>
          </a:solidFill>
          <a:ln/>
        </p:spPr>
      </p:sp>
      <p:sp>
        <p:nvSpPr>
          <p:cNvPr id="24" name="Shape 21"/>
          <p:cNvSpPr/>
          <p:nvPr/>
        </p:nvSpPr>
        <p:spPr>
          <a:xfrm>
            <a:off x="4828032" y="2560320"/>
            <a:ext cx="3310128" cy="365760"/>
          </a:xfrm>
          <a:prstGeom prst="rect">
            <a:avLst/>
          </a:prstGeom>
          <a:solidFill>
            <a:srgbClr val="EF7D66"/>
          </a:solidFill>
          <a:ln/>
        </p:spPr>
      </p:sp>
      <p:sp>
        <p:nvSpPr>
          <p:cNvPr id="25" name="Shape 22"/>
          <p:cNvSpPr/>
          <p:nvPr/>
        </p:nvSpPr>
        <p:spPr>
          <a:xfrm>
            <a:off x="5120640" y="2167128"/>
            <a:ext cx="548640" cy="548640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259" y="2320747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788152" y="196596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· 예측</a:t>
            </a:r>
            <a:endParaRPr lang="en-US" sz="1550" dirty="0"/>
          </a:p>
        </p:txBody>
      </p:sp>
      <p:sp>
        <p:nvSpPr>
          <p:cNvPr id="28" name="Shape 24"/>
          <p:cNvSpPr/>
          <p:nvPr/>
        </p:nvSpPr>
        <p:spPr>
          <a:xfrm>
            <a:off x="5138928" y="3255264"/>
            <a:ext cx="128016" cy="128016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394960" y="32004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vital_measurements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394960" y="34564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체온·심박·SpO₂·혈압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138928" y="4032504"/>
            <a:ext cx="128016" cy="128016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5394960" y="39776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excretion_records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394960" y="42336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분변·구토(관찰 시각)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138928" y="4809744"/>
            <a:ext cx="128016" cy="128016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5394960" y="47548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risk_predictions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5394960" y="501091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위험도·의심 카테고리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8467344" y="1965960"/>
            <a:ext cx="3310128" cy="3749040"/>
          </a:xfrm>
          <a:prstGeom prst="roundRect">
            <a:avLst>
              <a:gd name="adj" fmla="val 386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467344" y="1965960"/>
            <a:ext cx="3310128" cy="960120"/>
          </a:xfrm>
          <a:prstGeom prst="roundRect">
            <a:avLst>
              <a:gd name="adj" fmla="val 13333"/>
            </a:avLst>
          </a:prstGeom>
          <a:solidFill>
            <a:srgbClr val="B85C3C"/>
          </a:solidFill>
          <a:ln/>
        </p:spPr>
      </p:sp>
      <p:sp>
        <p:nvSpPr>
          <p:cNvPr id="39" name="Shape 35"/>
          <p:cNvSpPr/>
          <p:nvPr/>
        </p:nvSpPr>
        <p:spPr>
          <a:xfrm>
            <a:off x="8467344" y="2560320"/>
            <a:ext cx="3310128" cy="365760"/>
          </a:xfrm>
          <a:prstGeom prst="rect">
            <a:avLst/>
          </a:prstGeom>
          <a:solidFill>
            <a:srgbClr val="B85C3C"/>
          </a:solidFill>
          <a:ln/>
        </p:spPr>
      </p:sp>
      <p:sp>
        <p:nvSpPr>
          <p:cNvPr id="40" name="Shape 36"/>
          <p:cNvSpPr/>
          <p:nvPr/>
        </p:nvSpPr>
        <p:spPr>
          <a:xfrm>
            <a:off x="8759952" y="2167128"/>
            <a:ext cx="548640" cy="548640"/>
          </a:xfrm>
          <a:prstGeom prst="ellipse">
            <a:avLst/>
          </a:prstGeom>
          <a:solidFill>
            <a:srgbClr val="FFFDFA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71" y="2320747"/>
            <a:ext cx="241402" cy="241402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9427464" y="196596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 · 콘텐츠</a:t>
            </a:r>
            <a:endParaRPr lang="en-US" sz="1550" dirty="0"/>
          </a:p>
        </p:txBody>
      </p:sp>
      <p:sp>
        <p:nvSpPr>
          <p:cNvPr id="43" name="Shape 38"/>
          <p:cNvSpPr/>
          <p:nvPr/>
        </p:nvSpPr>
        <p:spPr>
          <a:xfrm>
            <a:off x="8778240" y="3255264"/>
            <a:ext cx="128016" cy="128016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9034272" y="32004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chat_rooms / chat_messages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9034272" y="34564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오픈채팅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8778240" y="4032504"/>
            <a:ext cx="128016" cy="128016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9034272" y="39776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shorts / like / comment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9034272" y="42336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숏츠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8778240" y="4809744"/>
            <a:ext cx="128016" cy="128016"/>
          </a:xfrm>
          <a:prstGeom prst="ellipse">
            <a:avLst/>
          </a:prstGeom>
          <a:solidFill>
            <a:srgbClr val="B85C3C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9034272" y="47548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9034272" y="501091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징후 알림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아키텍처 (EC2)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완결형 셋업 스크립트 한 번으로 EC2 구성 — 저장소 클론 없이 산출물만 배포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6949440" cy="4069080"/>
          </a:xfrm>
          <a:prstGeom prst="roundRect">
            <a:avLst>
              <a:gd name="adj" fmla="val 3596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4630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인스턴스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23760" y="2084832"/>
            <a:ext cx="640080" cy="640080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2982" y="2264054"/>
            <a:ext cx="281635" cy="28163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463040" y="2606040"/>
            <a:ext cx="6355080" cy="9144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/>
        </p:spPr>
      </p:sp>
      <p:sp>
        <p:nvSpPr>
          <p:cNvPr id="12" name="Shape 9"/>
          <p:cNvSpPr/>
          <p:nvPr/>
        </p:nvSpPr>
        <p:spPr>
          <a:xfrm>
            <a:off x="1645920" y="2788920"/>
            <a:ext cx="548640" cy="548640"/>
          </a:xfrm>
          <a:prstGeom prst="ellipse">
            <a:avLst/>
          </a:prstGeom>
          <a:solidFill>
            <a:srgbClr val="3A2E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539" y="294253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331720" y="2697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— 단일 오리진 (443/HTTPS)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331720" y="29992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→ Vite dist 정적  ·  /api → 8080  ·  /ws → WebSocket 업그레이드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463040" y="370332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FFFDFA"/>
          </a:solidFill>
          <a:ln/>
        </p:spPr>
      </p:sp>
      <p:sp>
        <p:nvSpPr>
          <p:cNvPr id="17" name="Shape 13"/>
          <p:cNvSpPr/>
          <p:nvPr/>
        </p:nvSpPr>
        <p:spPr>
          <a:xfrm>
            <a:off x="1645920" y="3886200"/>
            <a:ext cx="530352" cy="530352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419" y="4034699"/>
            <a:ext cx="233355" cy="23335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860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(systemd)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228600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:8080 도메인 API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370332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FFFDFA"/>
          </a:solidFill>
          <a:ln/>
        </p:spPr>
      </p:sp>
      <p:sp>
        <p:nvSpPr>
          <p:cNvPr id="22" name="Shape 17"/>
          <p:cNvSpPr/>
          <p:nvPr/>
        </p:nvSpPr>
        <p:spPr>
          <a:xfrm>
            <a:off x="4937760" y="3886200"/>
            <a:ext cx="530352" cy="530352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259" y="4034699"/>
            <a:ext cx="233355" cy="23335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778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(systemd)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57784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추론 서버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1463040" y="4846320"/>
            <a:ext cx="6355080" cy="960120"/>
          </a:xfrm>
          <a:prstGeom prst="roundRect">
            <a:avLst>
              <a:gd name="adj" fmla="val 11429"/>
            </a:avLst>
          </a:prstGeom>
          <a:solidFill>
            <a:srgbClr val="3A2E26"/>
          </a:solidFill>
          <a:ln/>
        </p:spPr>
      </p:sp>
      <p:sp>
        <p:nvSpPr>
          <p:cNvPr id="27" name="Shape 21"/>
          <p:cNvSpPr/>
          <p:nvPr/>
        </p:nvSpPr>
        <p:spPr>
          <a:xfrm>
            <a:off x="1645920" y="5029200"/>
            <a:ext cx="548640" cy="548640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539" y="518281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331720" y="49560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(외부 관리형)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2331720" y="52486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데이터 · Storage 영상/이미지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275320" y="196596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03920" y="2167128"/>
            <a:ext cx="530352" cy="530352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419" y="2315627"/>
            <a:ext cx="233355" cy="23335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89720" y="21671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셋업 스크립트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85039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Java·nginx·certbot 설치부터 systemd·nginx 설정·HTTPS까지 자체 생성 (멱등 실행)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275320" y="3355848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503920" y="3557016"/>
            <a:ext cx="530352" cy="530352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419" y="3705515"/>
            <a:ext cx="233355" cy="23335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189720" y="35570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자동화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850392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certbot 인증서 자동 발급 — apt 실패 시 snap 폴백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8275320" y="4745736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8503920" y="4946904"/>
            <a:ext cx="530352" cy="530352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2419" y="5095403"/>
            <a:ext cx="233355" cy="23335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189720" y="494690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한도 정렬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8503920" y="5568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60MB ↔ 백엔드 multipart 60MB — 413 함정 차단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F7D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5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ENGINEERING NOTES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엔지니어링 의사결정 — 실전에서 배운 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481328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737360"/>
            <a:ext cx="603504" cy="603504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021" y="1906341"/>
            <a:ext cx="265542" cy="2655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81328" y="245059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WebSocket이 조용히 죽는다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292608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CORS에만 LAN 오리진을 추가하고 STOMP 오리진을 빠뜨려 "새로고침해야 보이는" 증상. → 같은 프로퍼티로 단일화.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28032" y="1481328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02352" y="1737360"/>
            <a:ext cx="603504" cy="603504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333" y="1906341"/>
            <a:ext cx="265542" cy="2655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20640" y="245059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 ↔ 실연동 경계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292608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질병예측 스키마 미확정 → DiseasePredictionClient 인터페이스로 추상화. mock·FastAPI 구현체를 자유 교체.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467344" y="1481328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FFDFA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41664" y="1737360"/>
            <a:ext cx="603504" cy="603504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645" y="1906341"/>
            <a:ext cx="265542" cy="2655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245059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입력을 믿지 않는다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759952" y="292608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챗봇이 만든 pet_id 대신 인증된 요청의 petId로만 조회 — 잘못된 대상 조회·권한 우회 차단.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188720" y="3831336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463040" y="4087368"/>
            <a:ext cx="603504" cy="603504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021" y="4256349"/>
            <a:ext cx="265542" cy="2655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81328" y="480060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미설정도 기동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481328" y="527608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없이도 컨텍스트가 뜨도록 빈 기본값 + 경고 로그. 실제 호출 시점에 명확한 도메인 예외로 실패.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28032" y="3831336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102352" y="4087368"/>
            <a:ext cx="603504" cy="603504"/>
          </a:xfrm>
          <a:prstGeom prst="ellipse">
            <a:avLst/>
          </a:prstGeom>
          <a:solidFill>
            <a:srgbClr val="6B554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333" y="4256349"/>
            <a:ext cx="265542" cy="2655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20640" y="480060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번들 분리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120640" y="527608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지도·숏츠·진단 등 무거운 화면을 lazy 로드로 분리 — 첫 진입 속도 확보.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467344" y="3831336"/>
            <a:ext cx="3310128" cy="2148840"/>
          </a:xfrm>
          <a:prstGeom prst="roundRect">
            <a:avLst>
              <a:gd name="adj" fmla="val 5957"/>
            </a:avLst>
          </a:prstGeom>
          <a:solidFill>
            <a:srgbClr val="F6EADC"/>
          </a:solidFill>
          <a:ln/>
          <a:effectLst>
            <a:outerShdw sx="100000" sy="100000" kx="0" ky="0" algn="bl" rotWithShape="0" blurRad="101600" dist="38100" dir="5400000">
              <a:srgbClr val="6B4A2F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741664" y="4087368"/>
            <a:ext cx="603504" cy="603504"/>
          </a:xfrm>
          <a:prstGeom prst="ellipse">
            <a:avLst/>
          </a:prstGeom>
          <a:solidFill>
            <a:srgbClr val="B85C3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645" y="4256349"/>
            <a:ext cx="265542" cy="26554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759952" y="480060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오리진 = 보안+단순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8759952" y="527608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8D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제거 + SameSite=Strict 유지. 도메인 분리 시 사라지는 CSRF 방어를 지킨다.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303520"/>
            <a:ext cx="1371600" cy="1371600"/>
          </a:xfrm>
          <a:prstGeom prst="ellipse">
            <a:avLst/>
          </a:prstGeom>
          <a:solidFill>
            <a:srgbClr val="4E3E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7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&amp; 향후 과제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89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해낸 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" y="2148840"/>
            <a:ext cx="402336" cy="402336"/>
          </a:xfrm>
          <a:prstGeom prst="ellipse">
            <a:avLst/>
          </a:prstGeom>
          <a:solidFill>
            <a:srgbClr val="D89A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766" y="2261494"/>
            <a:ext cx="177028" cy="1770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30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서버(React·Spring·FastAPI) 통합 아키텍처 완성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6112" y="2834640"/>
            <a:ext cx="402336" cy="402336"/>
          </a:xfrm>
          <a:prstGeom prst="ellipse">
            <a:avLst/>
          </a:prstGeom>
          <a:solidFill>
            <a:srgbClr val="D89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66" y="2947294"/>
            <a:ext cx="177028" cy="1770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8163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채팅·숏츠 제작 플로우 등 복합 기능 구현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96112" y="3520440"/>
            <a:ext cx="402336" cy="402336"/>
          </a:xfrm>
          <a:prstGeom prst="ellipse">
            <a:avLst/>
          </a:prstGeom>
          <a:solidFill>
            <a:srgbClr val="D89A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66" y="3633094"/>
            <a:ext cx="177028" cy="1770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02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이미지·하이브리드 두 갈래 AI 진단 파이프라인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6112" y="4206240"/>
            <a:ext cx="402336" cy="402336"/>
          </a:xfrm>
          <a:prstGeom prst="ellipse">
            <a:avLst/>
          </a:prstGeom>
          <a:solidFill>
            <a:srgbClr val="D89A4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66" y="4318894"/>
            <a:ext cx="177028" cy="17702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 챗봇 + MCP 외부 확장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96112" y="4892040"/>
            <a:ext cx="402336" cy="402336"/>
          </a:xfrm>
          <a:prstGeom prst="ellipse">
            <a:avLst/>
          </a:prstGeom>
          <a:solidFill>
            <a:srgbClr val="D89A4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66" y="5004694"/>
            <a:ext cx="177028" cy="17702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17320" y="48737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단일 오리진 배포 자동화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7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611112" y="2148840"/>
            <a:ext cx="402336" cy="402336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766" y="2261494"/>
            <a:ext cx="177028" cy="1770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32320" y="2130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질병예측 mock → FastAPI 실연동 전환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611112" y="2834640"/>
            <a:ext cx="402336" cy="402336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3766" y="2947294"/>
            <a:ext cx="177028" cy="1770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132320" y="28163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규칙 가중치 → 학습 기반 고도화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611112" y="3520440"/>
            <a:ext cx="402336" cy="402336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3766" y="3633094"/>
            <a:ext cx="177028" cy="1770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132320" y="3502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다중 인스턴스(브로커 외부화) 확장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6611112" y="4206240"/>
            <a:ext cx="402336" cy="402336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3766" y="4318894"/>
            <a:ext cx="177028" cy="1770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13232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측정기기 데이터 수신 규격·주기 확정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6611112" y="4892040"/>
            <a:ext cx="402336" cy="402336"/>
          </a:xfrm>
          <a:prstGeom prst="ellipse">
            <a:avLst/>
          </a:prstGeom>
          <a:solidFill>
            <a:srgbClr val="EF7D66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3766" y="5004694"/>
            <a:ext cx="177028" cy="1770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132320" y="48737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채널(웹 push/이메일) 실계통 연결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640080"/>
            <a:ext cx="3657600" cy="3657600"/>
          </a:xfrm>
          <a:prstGeom prst="ellipse">
            <a:avLst/>
          </a:prstGeom>
          <a:solidFill>
            <a:srgbClr val="4E3E3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846320"/>
            <a:ext cx="1371600" cy="1371600"/>
          </a:xfrm>
          <a:prstGeom prst="ellipse">
            <a:avLst/>
          </a:prstGeom>
          <a:solidFill>
            <a:srgbClr val="6B5545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FE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댕댕댕 — 반려동물의 건강과 일상을 잇는 통합 케어 플랫폼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937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F7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8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Boot · FastAPI · Supabase · EC2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댕댕댕 프로젝트 기술 리뷰</dc:title>
  <dc:subject>PptxGenJS Presentation</dc:subject>
  <dc:creator>댕댕댕 팀</dc:creator>
  <cp:lastModifiedBy>댕댕댕 팀</cp:lastModifiedBy>
  <cp:revision>1</cp:revision>
  <dcterms:created xsi:type="dcterms:W3CDTF">2026-09-01T02:38:51Z</dcterms:created>
  <dcterms:modified xsi:type="dcterms:W3CDTF">2026-09-01T02:38:51Z</dcterms:modified>
</cp:coreProperties>
</file>